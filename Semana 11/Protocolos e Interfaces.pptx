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38A877A-0839-CD5C-22B5-717A21DCD9B0}">
          <p14:sldIdLst>
            <p14:sldId id="256"/>
            <p14:sldId id="257"/>
            <p14:sldId id="258"/>
            <p14:sldId id="259"/>
          </p14:sldIdLst>
        </p14:section>
        <p14:section name="Petición / respuesta" id="{E617C31A-AAE9-A008-943F-70A0BBD98D3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iempo real" id="{609FDA27-888C-0453-77A0-59C7427F95CD}">
          <p14:sldIdLst>
            <p14:sldId id="266"/>
            <p14:sldId id="267"/>
            <p14:sldId id="268"/>
            <p14:sldId id="269"/>
            <p14:sldId id="270"/>
          </p14:sldIdLst>
        </p14:section>
        <p14:section name="Asíncrono y eventos" id="{296DD5C2-ECDD-02A6-77D2-2F5434CA5D98}">
          <p14:sldIdLst>
            <p14:sldId id="271"/>
            <p14:sldId id="272"/>
            <p14:sldId id="273"/>
            <p14:sldId id="274"/>
          </p14:sldIdLst>
        </p14:section>
        <p14:section name="Interfaces para IA" id="{7AC0A909-79DB-6E01-BF90-1BD988DC6FE7}">
          <p14:sldIdLst>
            <p14:sldId id="275"/>
          </p14:sldIdLst>
        </p14:section>
        <p14:section name="Cierre teórico" id="{ED0D90DE-CCCD-E9FF-5BF9-6F306F7EF6CA}">
          <p14:sldIdLst>
            <p14:sldId id="276"/>
          </p14:sldIdLst>
        </p14:section>
        <p14:section name="Taller: tiempo real con SSE" id="{EB6B88B4-FFF9-3622-B561-70D3D3F2A3B1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22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Hoy: mapa de protocolos (petición/respuesta, tiempo real, asíncrono, IA) y un taller corto de tiempo real sobre la tasks-api de la Semana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Funciones, CLIs, APIs de red, colas y archivos son todos interfaces. Hoy nos enfocamos en las de red: el protocolo define buena parte del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de API de siempre (nombres claros, esquemas, errores útiles), pero quien lee la documentación es un modelo. Conecta con JSON-RPC de la diapositiva de clásicos.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Partimos del código final de la Semana 9. Si alguien no lo tiene: git checkout del repo del curso, carpeta Semana 9/tasks-api. Para la demo no hace falta auth; si la tienen activa, ver la diapositiva de 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update: emit después de validar que existe. En remove: emit({ type: 'deleted', task: { id } }). Emitir en el servicio (no en el controller) para que cualquier entrada, no solo HTTP, dispare el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0"/>
          <p:cNvSpPr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Ing. Jonathan Solís Parajeles  |  ITCR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Ing. Jonathan Solís Parajeles  |  ITCR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dirty="0">
                <a:solidFill>
                  <a:schemeClr val="bg1"/>
                </a:solidFill>
              </a:rPr>
              <a:t>Protocolos e interfaces de sistemas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11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4"/>
                </a:solidFill>
              </a:rPr>
              <a:t>Cómo se comunican los sistemas: más allá de HTTP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3"/>
                </a:solidFill>
              </a:rPr>
              <a:t>SEMANA 11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Una interfaz es un contrato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-bg-FaServer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on-FaServe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198059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463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Sistema 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988552" y="146304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icon-bg-FaLaptopCode"/>
          <p:cNvSpPr/>
          <p:nvPr/>
        </p:nvSpPr>
        <p:spPr>
          <a:xfrm>
            <a:off x="9217152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con-FaLaptopCod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62" y="1980590"/>
            <a:ext cx="336499" cy="33649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85832" y="1463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Sistema B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06240" y="1325880"/>
            <a:ext cx="3776472" cy="1645920"/>
          </a:xfrm>
          <a:prstGeom prst="roundRect">
            <a:avLst>
              <a:gd name="adj" fmla="val 555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icon-bg-FaFileContract"/>
          <p:cNvSpPr/>
          <p:nvPr/>
        </p:nvSpPr>
        <p:spPr>
          <a:xfrm>
            <a:off x="443484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on-FaFileContrac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350" y="1980590"/>
            <a:ext cx="336499" cy="33649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132588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Contrato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lo único que ambos conocen del otro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291840" y="2011680"/>
            <a:ext cx="8229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 flipH="1">
            <a:off x="3291840" y="2286000"/>
            <a:ext cx="8229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074152" y="2011680"/>
            <a:ext cx="8229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 flipH="1">
            <a:off x="8074152" y="2286000"/>
            <a:ext cx="82296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icon-bg-FaShapes"/>
          <p:cNvSpPr/>
          <p:nvPr/>
        </p:nvSpPr>
        <p:spPr>
          <a:xfrm>
            <a:off x="77724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con-FaShape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3" y="380573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611880"/>
            <a:ext cx="2371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508760" y="4041648"/>
            <a:ext cx="2371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Qué datos entran y salen: nombres, tipos, formato (JSON, Protobuf, XML…).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37304" y="342900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icon-bg-FaExclamationTriangle"/>
          <p:cNvSpPr/>
          <p:nvPr/>
        </p:nvSpPr>
        <p:spPr>
          <a:xfrm>
            <a:off x="4565904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con-FaExclamationTriangl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037" y="380573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97424" y="3611880"/>
            <a:ext cx="2371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Comportamiento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5297424" y="4041648"/>
            <a:ext cx="2371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Qué pasa cuando falla: códigos de error, timeouts, reintentos.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25968" y="342900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icon-bg-FaShieldAlt"/>
          <p:cNvSpPr/>
          <p:nvPr/>
        </p:nvSpPr>
        <p:spPr>
          <a:xfrm>
            <a:off x="8354568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con-FaShieldAlt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2701" y="380573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86088" y="3611880"/>
            <a:ext cx="2371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Garantías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086088" y="4041648"/>
            <a:ext cx="2371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Orden, entrega (¿al menos una vez?), consistencia, versión.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Ley de Hyrum: </a:t>
            </a:r>
            <a:r>
              <a:rPr lang="en-US" sz="1500" i="1" dirty="0">
                <a:solidFill>
                  <a:schemeClr val="tx1"/>
                </a:solidFill>
              </a:rPr>
              <a:t>con suficientes usuarios, todo comportamiento observable de tu API se vuelve parte del contrato, lo hayas prometido o no.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El mapa: cuatro familias de protocolos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7178" cy="470916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-bg-FaExchangeAlt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on-FaExchangeAl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126" y="178536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4231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Petición / respuesta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52928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El cliente pregunta, el servidor contesta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0120" y="36118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0690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40690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GraphQL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45262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0120" y="45262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gRPC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" y="49834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60120" y="49834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SOAP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54406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60120" y="54406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JSON-RPC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390138" y="1325880"/>
            <a:ext cx="2567178" cy="470916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icon-bg-FaBolt"/>
          <p:cNvSpPr/>
          <p:nvPr/>
        </p:nvSpPr>
        <p:spPr>
          <a:xfrm>
            <a:off x="366445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con-FaBol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1785366"/>
            <a:ext cx="315468" cy="3154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664458" y="24231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Tiempo real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3664458" y="2852928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Una conexión abierta para empujar cambios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664458" y="36118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3801618" y="36118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Polling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664458" y="40690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3801618" y="40690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Server-Sent Events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3664458" y="45262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3801618" y="45262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WebSocket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664458" y="49834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3801618" y="49834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WebRTC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231636" y="1325880"/>
            <a:ext cx="2567178" cy="470916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icon-bg-FaStream"/>
          <p:cNvSpPr/>
          <p:nvPr/>
        </p:nvSpPr>
        <p:spPr>
          <a:xfrm>
            <a:off x="6505956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con-FaStream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122" y="1785366"/>
            <a:ext cx="315468" cy="315468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505956" y="24231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Asíncrono / eventos</a:t>
            </a:r>
            <a:endParaRPr lang="en-US" sz="1900" dirty="0"/>
          </a:p>
        </p:txBody>
      </p:sp>
      <p:sp>
        <p:nvSpPr>
          <p:cNvPr id="35" name="Text 30"/>
          <p:cNvSpPr txBox="1"/>
          <p:nvPr/>
        </p:nvSpPr>
        <p:spPr>
          <a:xfrm>
            <a:off x="6505956" y="2852928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Se publica y no se espera la respuesta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505956" y="36118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643116" y="36118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Webhooks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6505956" y="40690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 txBox="1"/>
          <p:nvPr/>
        </p:nvSpPr>
        <p:spPr>
          <a:xfrm>
            <a:off x="6643116" y="40690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Colas (AMQP)</a:t>
            </a:r>
            <a:endParaRPr lang="en-US" sz="1400" dirty="0"/>
          </a:p>
        </p:txBody>
      </p:sp>
      <p:sp>
        <p:nvSpPr>
          <p:cNvPr id="40" name="Shape 35"/>
          <p:cNvSpPr/>
          <p:nvPr/>
        </p:nvSpPr>
        <p:spPr>
          <a:xfrm>
            <a:off x="6505956" y="45262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6643116" y="45262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Kafka</a:t>
            </a:r>
            <a:endParaRPr lang="en-US" sz="1400" dirty="0"/>
          </a:p>
        </p:txBody>
      </p:sp>
      <p:sp>
        <p:nvSpPr>
          <p:cNvPr id="42" name="Shape 37"/>
          <p:cNvSpPr/>
          <p:nvPr/>
        </p:nvSpPr>
        <p:spPr>
          <a:xfrm>
            <a:off x="6505956" y="49834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 txBox="1"/>
          <p:nvPr/>
        </p:nvSpPr>
        <p:spPr>
          <a:xfrm>
            <a:off x="6643116" y="49834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MQTT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9073134" y="1325880"/>
            <a:ext cx="2567178" cy="4709160"/>
          </a:xfrm>
          <a:prstGeom prst="roundRect">
            <a:avLst>
              <a:gd name="adj" fmla="val 356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icon-bg-FaRobot"/>
          <p:cNvSpPr/>
          <p:nvPr/>
        </p:nvSpPr>
        <p:spPr>
          <a:xfrm>
            <a:off x="9347454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con-FaRobo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2620" y="1785366"/>
            <a:ext cx="315468" cy="315468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9347454" y="2423160"/>
            <a:ext cx="2109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Interfaces para IA</a:t>
            </a:r>
            <a:endParaRPr lang="en-US" sz="1900" dirty="0"/>
          </a:p>
        </p:txBody>
      </p:sp>
      <p:sp>
        <p:nvSpPr>
          <p:cNvPr id="48" name="Text 42"/>
          <p:cNvSpPr txBox="1"/>
          <p:nvPr/>
        </p:nvSpPr>
        <p:spPr>
          <a:xfrm>
            <a:off x="9347454" y="2852928"/>
            <a:ext cx="210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El cliente es un modelo que usa herramientas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9347454" y="36118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 txBox="1"/>
          <p:nvPr/>
        </p:nvSpPr>
        <p:spPr>
          <a:xfrm>
            <a:off x="9484614" y="36118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MCP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9347454" y="4069080"/>
            <a:ext cx="2018538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 txBox="1"/>
          <p:nvPr/>
        </p:nvSpPr>
        <p:spPr>
          <a:xfrm>
            <a:off x="9484614" y="4069080"/>
            <a:ext cx="183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Function calling</a:t>
            </a:r>
            <a:endParaRPr lang="en-US" sz="14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Todo viaja sobre algo: la pila de protocolos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Aplicación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Sesión / mensaje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37160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31720" y="137160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REST · GraphQL · SSE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40280" y="233172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331720" y="233172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HTTP/1.1 · HTTP/2 · HTTP/3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329184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331720" y="329184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TCP  (o QUIC/UDP en HTTP/3)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56862" y="137160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248302" y="137160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gRPC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56862" y="233172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248302" y="233172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HTTP/2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56862" y="329184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248302" y="329184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TCP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3445" y="137160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164885" y="137160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WebSocket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73445" y="233172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64885" y="233172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Upgrade desde HTTP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73445" y="329184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164885" y="329184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TCP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90027" y="137160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081467" y="137160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MQTT · AMQP · Kafka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90027" y="233172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081467" y="233172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Protocolo binario propio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90027" y="329184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081467" y="329184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TCP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906610" y="137160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998050" y="137160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WebRTC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906610" y="233172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9998050" y="233172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SRTP (media) · SCTP (datos)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906610" y="3291840"/>
            <a:ext cx="1733702" cy="82296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998050" y="3291840"/>
            <a:ext cx="155082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UDP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251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Red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40280" y="4251960"/>
            <a:ext cx="9400032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2240280" y="4251960"/>
            <a:ext cx="9400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IP</a:t>
            </a:r>
            <a:endParaRPr lang="en-US" sz="1500" dirty="0"/>
          </a:p>
        </p:txBody>
      </p:sp>
      <p:sp>
        <p:nvSpPr>
          <p:cNvPr id="39" name="icon-bg-FaLightbulb"/>
          <p:cNvSpPr/>
          <p:nvPr/>
        </p:nvSpPr>
        <p:spPr>
          <a:xfrm>
            <a:off x="548640" y="516636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con-FaLightbulb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" y="5326837"/>
            <a:ext cx="273406" cy="27340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37160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TCP </a:t>
            </a:r>
            <a:r>
              <a:rPr lang="en-US" sz="1500" dirty="0">
                <a:solidFill>
                  <a:schemeClr val="tx1"/>
                </a:solidFill>
              </a:rPr>
              <a:t>garantiza orden y entrega (a costa de latencia).  </a:t>
            </a:r>
            <a:r>
              <a:rPr lang="en-US" sz="1500" b="1" dirty="0">
                <a:solidFill>
                  <a:schemeClr val="accent6"/>
                </a:solidFill>
              </a:rPr>
              <a:t>UDP </a:t>
            </a:r>
            <a:r>
              <a:rPr lang="en-US" sz="1500" dirty="0">
                <a:solidFill>
                  <a:schemeClr val="tx1"/>
                </a:solidFill>
              </a:rPr>
              <a:t>no garantiza nada, pero es rápido: ideal para voz y video.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Elegir un protocolo es elegir garantías.</a:t>
            </a:r>
            <a:endParaRPr lang="en-US" sz="15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</a:rPr>
              <a:t>Petición / respuesta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El cliente pregunta, el servidor contesta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accent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REST: recursos sobre HTTP</a:t>
            </a:r>
            <a:endParaRPr lang="en-US" sz="3400" dirty="0"/>
          </a:p>
        </p:txBody>
      </p:sp>
      <p:sp>
        <p:nvSpPr>
          <p:cNvPr id="3" name="icon-bg-FaGlobeAmericas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GlobeAmerica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Modela el sistema como recursos (sustantivos) y usa los verbos de HTTP para operar sobre ellos.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HTTP/1.1 o HTTP/2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JSON (casi siempre)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Contrato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OpenAPI / Swagger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APIs públicas, CRUD, caché HTTP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Varias llamadas para vistas complejas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petición y respuesta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/api/tasks/42 HTTP/1.1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 application/json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"id": 42,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"title": "Preparar la demo",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"done": false }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Github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Githu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GitHub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Repos, issues y PRs vía REST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Stripe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Strip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Stripe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Pagos con idempotency keys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Tasks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Task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Nuestra tasks-api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Semana 9: Express + Supabase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GraphQL: el cliente elige la forma</a:t>
            </a:r>
            <a:endParaRPr lang="en-US" sz="3400" dirty="0"/>
          </a:p>
        </p:txBody>
      </p:sp>
      <p:sp>
        <p:nvSpPr>
          <p:cNvPr id="3" name="icon-bg-FaProjectDiagram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ProjectDiagram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 solo endpoint. El cliente describe exactamente qué campos necesita, y recibe esa forma, ni más ni menos.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HTTP (POST /graphql)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JSON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Contrato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Esquema tipado (SDL)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Frontends con vistas ricas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Problema N+1 y caché más difícil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y respuesta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El cliente pide solo lo que va a mostrar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task(id: 42)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title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assignee { name avatarUrl 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La respuesta tiene exactamente esa forma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"data": { "task": { "title": "Preparar…",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"assignee": { "name": "Ana", … } } } }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Github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Githu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GitHub API v4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Toda la API pública en GraphQL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Shopify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Shopify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Shopify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Storefront y Admin API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Film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Film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Netflix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chemeClr val="accent5"/>
                </a:solidFill>
              </a:rPr>
              <a:t>Servicios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gRPC: funciones remotas tipadas</a:t>
            </a:r>
            <a:endParaRPr lang="en-US" sz="3400" dirty="0"/>
          </a:p>
        </p:txBody>
      </p:sp>
      <p:sp>
        <p:nvSpPr>
          <p:cNvPr id="3" name="icon-bg-FaNetworkWired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NetworkWire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Llamas a una función de otro servicio como si fuera local. El contrato vive en un .proto y el código se genera.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HTTP/2 (multiplexado)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Protocol Buffers (binario)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Contrato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Archivo .proto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Servicio ↔ servicio, streaming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En el navegador requiere gRPC-Web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tasks.proto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 = "proto3";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 TaskService 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rpc GetTask (GetTaskRequest) returns (Task);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rpc WatchTasks (Empty) returns (stream Task);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 Task 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int32  id    = 1;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string title = 2;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bool   done  = 3;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Google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Googl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Google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 creó a partir de su RPC interno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Uber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Uber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Netflix, Uber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Comunicación entre microservicios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Cubes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Cube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Kubernetes / etcd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APIs internas de la plataforma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Los clásicos que siguen vivos: SOAP y JSON-RPC</a:t>
            </a:r>
            <a:endParaRPr lang="en-US" sz="3400" dirty="0"/>
          </a:p>
        </p:txBody>
      </p:sp>
      <p:sp>
        <p:nvSpPr>
          <p:cNvPr id="3" name="icon-bg-FaUniversity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Universit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1498702"/>
            <a:ext cx="294437" cy="2944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4539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SOAP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362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Mensajes XML dentro de un sobre (Envelope). Contrato formal en WSDL y estándares de seguridad (WS-Security).</a:t>
            </a:r>
            <a:endParaRPr lang="en-US" sz="1450" dirty="0"/>
          </a:p>
        </p:txBody>
      </p:sp>
      <p:sp>
        <p:nvSpPr>
          <p:cNvPr id="7" name="code-panel"/>
          <p:cNvSpPr/>
          <p:nvPr/>
        </p:nvSpPr>
        <p:spPr>
          <a:xfrm>
            <a:off x="548640" y="2926080"/>
            <a:ext cx="5362956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305409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petición SOAP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48143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&lt;soap:Envelope xmlns:soap="…"&gt;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&lt;soap:Body&gt;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&lt;GetTask&gt;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&lt;Id&gt;42&lt;/Id&gt;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&lt;/GetTask&gt;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&lt;/soap:Body&gt;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&lt;/soap:Envelope&gt;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349240"/>
            <a:ext cx="5362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usa en: </a:t>
            </a:r>
            <a:r>
              <a:rPr lang="en-US" sz="1400" dirty="0">
                <a:solidFill>
                  <a:schemeClr val="tx1"/>
                </a:solidFill>
              </a:rPr>
              <a:t>Banca, seguros, gobierno y sistemas legados que necesitas integrar.</a:t>
            </a:r>
            <a:endParaRPr lang="en-US" sz="1400" dirty="0"/>
          </a:p>
        </p:txBody>
      </p:sp>
      <p:sp>
        <p:nvSpPr>
          <p:cNvPr id="11" name="icon-bg-FaCode"/>
          <p:cNvSpPr/>
          <p:nvPr/>
        </p:nvSpPr>
        <p:spPr>
          <a:xfrm>
            <a:off x="6277356" y="1325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con-FaCod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149870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00316" y="1325880"/>
            <a:ext cx="45399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JSON-RPC 2.0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277356" y="2103120"/>
            <a:ext cx="53629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La versión mínima de RPC: un JSON con método, parámetros e id. Funciona sobre HTTP, WebSocket o stdio.</a:t>
            </a:r>
            <a:endParaRPr lang="en-US" sz="1450" dirty="0"/>
          </a:p>
        </p:txBody>
      </p:sp>
      <p:sp>
        <p:nvSpPr>
          <p:cNvPr id="15" name="code-panel"/>
          <p:cNvSpPr/>
          <p:nvPr/>
        </p:nvSpPr>
        <p:spPr>
          <a:xfrm>
            <a:off x="6277356" y="2926080"/>
            <a:ext cx="5362956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51676" y="3054096"/>
            <a:ext cx="4814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petición JSON-RPC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551676" y="3383280"/>
            <a:ext cx="48143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"jsonrpc": "2.0",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"id": 1,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"method": "getTask",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"params": { "id": 42 } }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277356" y="5349240"/>
            <a:ext cx="5362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usa en: </a:t>
            </a:r>
            <a:r>
              <a:rPr lang="en-US" sz="1400" dirty="0">
                <a:solidFill>
                  <a:schemeClr val="tx1"/>
                </a:solidFill>
              </a:rPr>
              <a:t>Language Server Protocol (VS Code), nodos de Ethereum y MCP (lo veremos al final).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Comparativa: petición / respuesta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968496"/>
        </p:xfrm>
        <a:graphic>
          <a:graphicData uri="http://schemas.openxmlformats.org/drawingml/2006/table">
            <a:tbl>
              <a:tblPr/>
              <a:tblGrid>
                <a:gridCol w="1947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REST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GraphQL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gRPC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SOAP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Piensa en…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Recursos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Consultas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Funciones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Operaciones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Formato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JSON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JSON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Protobuf (binario)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XML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Contrato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OpenAPI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SDL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.proto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WSDL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Navegador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Nativo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Nativo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Vía gRPC-Web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Posible, pesado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Rendimiento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Bueno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Bueno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Excelente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Regular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Caso típico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API pública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App con vistas ricas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Microservicios internos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Integración empresarial</a:t>
                      </a:r>
                      <a:endParaRPr lang="en-US" sz="1500" dirty="0"/>
                    </a:p>
                  </a:txBody>
                  <a:tcPr marL="109728" marR="109728" anchor="ctr">
                    <a:lnL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hay ganador: </a:t>
            </a:r>
            <a:r>
              <a:rPr lang="en-US" sz="1500" dirty="0">
                <a:solidFill>
                  <a:schemeClr val="tx1"/>
                </a:solidFill>
              </a:rPr>
              <a:t>muchas empresas usan REST o GraphQL hacia afuera y gRPC hacia adentro.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</a:rPr>
              <a:t>Tiempo real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Cuando el servidor necesita hablar primero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accent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Cuatro formas de enterarse de un cambio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07024" y="1261872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84464" y="1261872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296144" y="1261872"/>
            <a:ext cx="164592" cy="164592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977640" y="11887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ocurre un cambio en el servidor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091672" cy="93268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85800" y="1673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Polling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208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Pregunta cada N segundos. Simple, pero casi siempre la respuesta es «nada nuevo».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77640" y="1783080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2350008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200400" y="16642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servidor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2311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cliente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flipV="1">
            <a:off x="411480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498348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5780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585216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783080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672084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9516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758952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86384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845820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32520" y="1783080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932688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60120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1019556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469880" y="1783080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11064240" y="1783080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1338560" y="1783080"/>
            <a:ext cx="128016" cy="566928"/>
          </a:xfrm>
          <a:prstGeom prst="line">
            <a:avLst/>
          </a:prstGeom>
          <a:noFill/>
          <a:ln w="22225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5800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Long polling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3044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La petición queda abierta hasta que haya datos; luego se repite.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977640" y="2807208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977640" y="3374136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200400" y="26883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servidor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32552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cliente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V="1">
            <a:off x="4114800" y="2807208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89320" y="2807208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6263640" y="2807208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66760" y="2807208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8641080" y="2807208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378440" y="2807208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10652760" y="2807208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3648456"/>
            <a:ext cx="11091672" cy="93268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85800" y="3721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Server-Sent Events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4069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Una sola petición HTTP; el servidor empuja eventos por ella.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977640" y="3831336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977640" y="4398264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3200400" y="3712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servidor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42793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cliente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 flipV="1">
            <a:off x="4114800" y="3831336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989320" y="3831336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366760" y="3831336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0378440" y="3831336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85800" y="47457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WebSocket</a:t>
            </a:r>
            <a:endParaRPr lang="en-US" sz="1700" dirty="0"/>
          </a:p>
        </p:txBody>
      </p:sp>
      <p:sp>
        <p:nvSpPr>
          <p:cNvPr id="57" name="Text 55"/>
          <p:cNvSpPr txBox="1"/>
          <p:nvPr/>
        </p:nvSpPr>
        <p:spPr>
          <a:xfrm>
            <a:off x="685800" y="5093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5"/>
                </a:solidFill>
              </a:rPr>
              <a:t>Conexión persistente: ambos lados envían cuando quieran.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3977640" y="4855464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977640" y="5422392"/>
            <a:ext cx="7543800" cy="0"/>
          </a:xfrm>
          <a:prstGeom prst="line">
            <a:avLst/>
          </a:prstGeom>
          <a:noFill/>
          <a:ln w="12700">
            <a:solidFill>
              <a:srgbClr val="B9C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3200400" y="47365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servidor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200400" y="53035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accent5"/>
                </a:solidFill>
              </a:rPr>
              <a:t>cliente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 flipV="1">
            <a:off x="4114800" y="4855464"/>
            <a:ext cx="128016" cy="566928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343400" y="4855464"/>
            <a:ext cx="128016" cy="566928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4526280" y="50109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Upgrade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89320" y="4855464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366760" y="4855464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0378440" y="4855464"/>
            <a:ext cx="128016" cy="566928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 flipV="1">
            <a:off x="7132320" y="4855464"/>
            <a:ext cx="128016" cy="56692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 flipV="1">
            <a:off x="9418320" y="4855464"/>
            <a:ext cx="128016" cy="566928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977640" y="5897880"/>
            <a:ext cx="41148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448056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cliente → servidor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46520" y="5897880"/>
            <a:ext cx="411480" cy="0"/>
          </a:xfrm>
          <a:prstGeom prst="line">
            <a:avLst/>
          </a:prstGeom>
          <a:noFill/>
          <a:ln w="31750">
            <a:solidFill>
              <a:srgbClr val="B9C9D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694944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respuesta vacía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915400" y="5897880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9418320" y="5760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datos nuevos</a:t>
            </a:r>
            <a:endParaRPr lang="en-US" sz="12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WebSocket: conversación en ambos sentidos</a:t>
            </a:r>
            <a:endParaRPr lang="en-US" sz="3400" dirty="0"/>
          </a:p>
        </p:txBody>
      </p:sp>
      <p:sp>
        <p:nvSpPr>
          <p:cNvPr id="3" name="icon-bg-FaPlug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Plug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Arranca como HTTP, hace «Upgrade» y queda una conexión TCP abierta donde ambos lados envían mensajes cuando quieran.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TCP (ws:// y wss://)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Libre: texto o binario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Dirección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Bidireccional (full-duplex)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Chat, juegos, colaboración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Estado por conexión: escalar cuesta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 en el navegador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 ws = new WebSocket('wss://chat.ejemplo.com');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ws.onopen = () =&gt;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ws.send(JSON.stringify({ type: 'join', room: 's11' }));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ws.onmessage = (e) =&gt;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const msg = JSON.parse(e.data);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render(msg);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Slack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Slac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Slack, Discord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Mensajes y presencia en vivo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Figma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Figma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Figma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Edición colaborativa (multiplayer)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ChartLine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ChartLi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Trading y juegos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Precios y estado del juego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Server-Sent Events: el servidor empuja</a:t>
            </a:r>
            <a:endParaRPr lang="en-US" sz="3400" dirty="0"/>
          </a:p>
        </p:txBody>
      </p:sp>
      <p:sp>
        <p:nvSpPr>
          <p:cNvPr id="3" name="icon-bg-FaBroadcastTower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BroadcastTowe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El servidor deja abierta una respuesta HTTP y escribe eventos de texto. Unidireccional, simple y con reconexión automática.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HTTP normal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text/event-stream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Dirección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Servidor → cliente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Notificaciones, feeds, progreso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EventSource no envía headers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viaja por el cable + cliente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text/event-stream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 {"type":"created","id":42}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 {"type":"updated","id":42}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Cliente: dos líneas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 es = new EventSource('/api/tasks/stream');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es.onmessage = (e) =&gt; console.log(e.data);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Robot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Robot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APIs de LLMs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Claude y ChatGPT envían tokens por SSE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TachometerAlt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TachometerAlt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Dashboards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Métricas y notificaciones en vivo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Tasks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Task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Taller de hoy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Tareas en vivo en la tasks-api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WebRTC: directo entre pares</a:t>
            </a:r>
            <a:endParaRPr lang="en-US" sz="3400" dirty="0"/>
          </a:p>
        </p:txBody>
      </p:sp>
      <p:sp>
        <p:nvSpPr>
          <p:cNvPr id="3" name="icon-bg-FaVideo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Vide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Audio, video y datos peer-to-peer, normalmente sobre UDP. Los servidores solo ayudan a que los pares se encuentren.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4526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26060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Señalización: </a:t>
            </a:r>
            <a:r>
              <a:rPr lang="en-US" sz="1350" dirty="0">
                <a:solidFill>
                  <a:schemeClr val="tx1"/>
                </a:solidFill>
              </a:rPr>
              <a:t>no está en el estándar: tú eliges cómo (WebSocket, SSE…).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4526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31520" y="33832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STUN: </a:t>
            </a:r>
            <a:r>
              <a:rPr lang="en-US" sz="1350" dirty="0">
                <a:solidFill>
                  <a:schemeClr val="tx1"/>
                </a:solidFill>
              </a:rPr>
              <a:t>descubre tu IP pública detrás del router.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452628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31520" y="4160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TURN: </a:t>
            </a:r>
            <a:r>
              <a:rPr lang="en-US" sz="1350" dirty="0">
                <a:solidFill>
                  <a:schemeClr val="tx1"/>
                </a:solidFill>
              </a:rPr>
              <a:t>retransmite el tráfico cuando no hay ruta directa.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74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usa en: </a:t>
            </a:r>
            <a:r>
              <a:rPr lang="en-US" sz="1400" dirty="0">
                <a:solidFill>
                  <a:schemeClr val="tx1"/>
                </a:solidFill>
              </a:rPr>
              <a:t>Google Meet, Discord (voz), compartir pantalla y llamadas desde el navegador.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43800" y="1371600"/>
            <a:ext cx="237744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54380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Servidor de señalización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287000" y="1371600"/>
            <a:ext cx="132588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287000" y="137160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STUN / TURN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icon-bg-FaLaptop"/>
          <p:cNvSpPr/>
          <p:nvPr/>
        </p:nvSpPr>
        <p:spPr>
          <a:xfrm>
            <a:off x="612648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con-FaLapto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613" y="4125773"/>
            <a:ext cx="252374" cy="25237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66928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Par A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10195560" y="3840480"/>
            <a:ext cx="14630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icon-bg-FaLaptop"/>
          <p:cNvSpPr/>
          <p:nvPr/>
        </p:nvSpPr>
        <p:spPr>
          <a:xfrm>
            <a:off x="10652760" y="3977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con-FaLapto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893" y="4125773"/>
            <a:ext cx="252374" cy="25237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19556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Par B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 flipV="1">
            <a:off x="6492240" y="2377440"/>
            <a:ext cx="1371600" cy="1371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 flipH="1" flipV="1">
            <a:off x="9646920" y="2377440"/>
            <a:ext cx="1280160" cy="1371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745236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5"/>
                </a:solidFill>
              </a:rPr>
              <a:t>1. intercambian oferta / respuesta (SDP)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223760" y="4480560"/>
            <a:ext cx="2880360" cy="914"/>
          </a:xfrm>
          <a:prstGeom prst="line">
            <a:avLst/>
          </a:prstGeom>
          <a:noFill/>
          <a:ln w="444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 flipH="1">
            <a:off x="7223760" y="4754880"/>
            <a:ext cx="2880360" cy="914"/>
          </a:xfrm>
          <a:prstGeom prst="line">
            <a:avLst/>
          </a:prstGeom>
          <a:noFill/>
          <a:ln w="444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722376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2. media directo (UDP)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</a:rPr>
              <a:t>Asíncrono y eventos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Publicar sin esperar la respuesta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accent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Webhooks: la API al revés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-bg-FaStripe"/>
          <p:cNvSpPr/>
          <p:nvPr/>
        </p:nvSpPr>
        <p:spPr>
          <a:xfrm>
            <a:off x="74980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on-FaStrip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1702613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Stripe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ocurre un pago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68596" y="137160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icon-bg-FaServer"/>
          <p:cNvSpPr/>
          <p:nvPr/>
        </p:nvSpPr>
        <p:spPr>
          <a:xfrm>
            <a:off x="4969764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con-FaServer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897" y="170261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82996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Tu servidor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POST /webhooks/stripe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988552" y="1371600"/>
            <a:ext cx="265176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icon-bg-FaInbox"/>
          <p:cNvSpPr/>
          <p:nvPr/>
        </p:nvSpPr>
        <p:spPr>
          <a:xfrm>
            <a:off x="91897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on-FaInbox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853" y="170261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902952" y="13716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Cola interna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procesa después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291840" y="1828800"/>
            <a:ext cx="1385316" cy="91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3200400" y="1417320"/>
            <a:ext cx="1568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6"/>
                </a:solidFill>
              </a:rPr>
              <a:t>HTTP POST + firma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511796" y="1828800"/>
            <a:ext cx="1385316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7420356" y="1417320"/>
            <a:ext cx="1568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responde 200 ya</a:t>
            </a:r>
            <a:endParaRPr lang="en-US" sz="1100" dirty="0"/>
          </a:p>
        </p:txBody>
      </p:sp>
      <p:sp>
        <p:nvSpPr>
          <p:cNvPr id="19" name="code-panel"/>
          <p:cNvSpPr/>
          <p:nvPr/>
        </p:nvSpPr>
        <p:spPr>
          <a:xfrm>
            <a:off x="548640" y="2651760"/>
            <a:ext cx="6035040" cy="27432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22960" y="27797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recibe tu servidor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3108960"/>
            <a:ext cx="548640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 /webhooks/stripe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Stripe-Signature: t=1697...,v1=5257a8...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"id": "evt_1Nx...",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"type": "payment_intent.succeeded",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"data": { "object": { "amount": 2500 } } }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Buenas prácticas</a:t>
            </a:r>
            <a:endParaRPr lang="en-US" sz="1800" dirty="0"/>
          </a:p>
        </p:txBody>
      </p:sp>
      <p:sp>
        <p:nvSpPr>
          <p:cNvPr id="23" name="icon-bg-FaKey"/>
          <p:cNvSpPr/>
          <p:nvPr/>
        </p:nvSpPr>
        <p:spPr>
          <a:xfrm>
            <a:off x="6949440" y="3200400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con-FaKey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5228" y="3336188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35240" y="31546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/>
                </a:solidFill>
              </a:rPr>
              <a:t>Verifica la firma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cualquiera puede llamar a tu URL</a:t>
            </a:r>
            <a:endParaRPr lang="en-US" sz="1450" dirty="0"/>
          </a:p>
        </p:txBody>
      </p:sp>
      <p:sp>
        <p:nvSpPr>
          <p:cNvPr id="26" name="icon-bg-FaRedo"/>
          <p:cNvSpPr/>
          <p:nvPr/>
        </p:nvSpPr>
        <p:spPr>
          <a:xfrm>
            <a:off x="6949440" y="3950208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con-FaRed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228" y="4085996"/>
            <a:ext cx="231343" cy="23134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635240" y="390448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/>
                </a:solidFill>
              </a:rPr>
              <a:t>Sé idempotente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el mismo evento puede llegar dos veces</a:t>
            </a:r>
            <a:endParaRPr lang="en-US" sz="1450" dirty="0"/>
          </a:p>
        </p:txBody>
      </p:sp>
      <p:sp>
        <p:nvSpPr>
          <p:cNvPr id="29" name="icon-bg-FaStopwatch"/>
          <p:cNvSpPr/>
          <p:nvPr/>
        </p:nvSpPr>
        <p:spPr>
          <a:xfrm>
            <a:off x="6949440" y="4700016"/>
            <a:ext cx="502920" cy="502920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Stopwatch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5228" y="4835804"/>
            <a:ext cx="231343" cy="23134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635240" y="465429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Responde rápido (2xx)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procesa en segundo plano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 usa en: </a:t>
            </a:r>
            <a:r>
              <a:rPr lang="en-US" sz="1400" dirty="0">
                <a:solidFill>
                  <a:schemeClr val="tx1"/>
                </a:solidFill>
              </a:rPr>
              <a:t>Stripe (pagos), GitHub (push → CI/CD), WhatsApp Business y Twilio (mensajes entrantes).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Message brokers: cola de trabajo vs log de eventos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62956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-bg-FaInbox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on-FaInbox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7149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54480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Cola  ·  RabbitMQ / SQS (AMQP)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Cada mensaje lo procesa un solo consumidor y luego desaparece.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383280"/>
            <a:ext cx="1143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Productor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011680" y="3749040"/>
            <a:ext cx="18288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40280" y="3520440"/>
            <a:ext cx="32918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24328" y="3520440"/>
            <a:ext cx="32918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008376" y="3520440"/>
            <a:ext cx="329184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92424" y="3520440"/>
            <a:ext cx="329184" cy="457200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3813048" y="3337560"/>
            <a:ext cx="484632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813048" y="3749040"/>
            <a:ext cx="484632" cy="4114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343400" y="301752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34340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Worker 1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43400" y="3931920"/>
            <a:ext cx="1188720" cy="502920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34340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Worker 2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074920"/>
            <a:ext cx="4814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Se usa en: </a:t>
            </a:r>
            <a:r>
              <a:rPr lang="en-US" sz="1350" dirty="0">
                <a:solidFill>
                  <a:schemeClr val="tx1"/>
                </a:solidFill>
              </a:rPr>
              <a:t>Envío de correos, procesar pedidos, generar PDFs, tareas pesadas en segundo plano.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277356" y="1325880"/>
            <a:ext cx="5362956" cy="4754880"/>
          </a:xfrm>
          <a:prstGeom prst="roundRect">
            <a:avLst>
              <a:gd name="adj" fmla="val 192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icon-bg-FaStream"/>
          <p:cNvSpPr/>
          <p:nvPr/>
        </p:nvSpPr>
        <p:spPr>
          <a:xfrm>
            <a:off x="6551676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con-FaStream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153" y="1714957"/>
            <a:ext cx="273406" cy="27340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328916" y="1554480"/>
            <a:ext cx="41742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 ·  Apache Kafka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551676" y="22860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 eventos se guardan en orden; cada grupo lee a su ritmo y puede releer.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551676" y="3383280"/>
            <a:ext cx="11430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6551676" y="3383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Productor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7740396" y="3749040"/>
            <a:ext cx="18288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968996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7968996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353044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8353044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737092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737092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121140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9121140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9505188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9505188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889236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 txBox="1"/>
          <p:nvPr/>
        </p:nvSpPr>
        <p:spPr>
          <a:xfrm>
            <a:off x="9889236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10273284" y="3520440"/>
            <a:ext cx="347472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 txBox="1"/>
          <p:nvPr/>
        </p:nvSpPr>
        <p:spPr>
          <a:xfrm>
            <a:off x="10273284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10447020" y="2926080"/>
            <a:ext cx="914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9816084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/>
                </a:solidFill>
              </a:rPr>
              <a:t>Grupo A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 flipV="1">
            <a:off x="8910828" y="4023360"/>
            <a:ext cx="914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 txBox="1"/>
          <p:nvPr/>
        </p:nvSpPr>
        <p:spPr>
          <a:xfrm>
            <a:off x="8005572" y="4599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accent6"/>
                </a:solidFill>
              </a:rPr>
              <a:t>Grupo B (va atrasado)</a:t>
            </a:r>
            <a:endParaRPr lang="en-US" sz="1150" dirty="0"/>
          </a:p>
        </p:txBody>
      </p:sp>
      <p:sp>
        <p:nvSpPr>
          <p:cNvPr id="48" name="Text 44"/>
          <p:cNvSpPr txBox="1"/>
          <p:nvPr/>
        </p:nvSpPr>
        <p:spPr>
          <a:xfrm>
            <a:off x="6551676" y="5074920"/>
            <a:ext cx="48143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Se usa en: </a:t>
            </a:r>
            <a:r>
              <a:rPr lang="en-US" sz="1350" dirty="0">
                <a:solidFill>
                  <a:schemeClr val="tx1"/>
                </a:solidFill>
              </a:rPr>
              <a:t>LinkedIn (lo creó), analítica en tiempo real, event sourcing, CDC entre bases de datos.</a:t>
            </a:r>
            <a:endParaRPr lang="en-US" sz="13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MQTT: pub/sub para dispositivos</a:t>
            </a:r>
            <a:endParaRPr lang="en-US" sz="3400" dirty="0"/>
          </a:p>
        </p:txBody>
      </p:sp>
      <p:sp>
        <p:nvSpPr>
          <p:cNvPr id="3" name="icon-bg-FaMicrochip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Microchip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Pub/sub ultraliviano para dispositivos con poca batería o red inestable. Todos hablan con un broker usando topics.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TCP (o sobre WebSocket)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Bytes libres, header de 2 bytes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Dirección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Pub/sub a través de un broker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IoT, sensores, telemetría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Elegir QoS 0, 1 o 2 (entrega)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 y dashboard (mqtt.js)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El sensor publica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client.publish('tec/aula-b3/temp', '24.5', { qos: 1 });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El dashboard se suscribe (+ = comodín)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client.subscribe('tec/+/temp');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client.on('message', (topic, msg) =&gt;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console.log(topic, msg.toString()));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Home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Hom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Domótica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Home Assistant, sensores y luces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Aws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Aws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IoT industrial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AWS IoT Core, Azure IoT Hub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FacebookMessenger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FacebookMessenger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Facebook Messenger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 usó para mensajería móvil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Interfaces para IA: Model Context Protocol</a:t>
            </a:r>
            <a:endParaRPr lang="en-US" sz="3400" dirty="0"/>
          </a:p>
        </p:txBody>
      </p:sp>
      <p:sp>
        <p:nvSpPr>
          <p:cNvPr id="3" name="icon-bg-FaRobot"/>
          <p:cNvSpPr/>
          <p:nvPr/>
        </p:nvSpPr>
        <p:spPr>
          <a:xfrm>
            <a:off x="548640" y="1325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Robot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2339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28016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Estándar abierto para que un modelo de IA descubra y use herramientas y datos. Es JSON-RPC 2.0 sobre stdio o HTTP.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2395728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Transporte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95728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stdio (local) o HTTP (remoto)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825496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Formato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825496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JSON-RPC 2.0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255264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85800" y="3255264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Contrato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3255264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tools con JSON Schema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85032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Ideal para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920240" y="3685032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Exponer tu sistema a agentes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4114800"/>
            <a:ext cx="5029200" cy="429768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1234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Ojo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920240" y="4114800"/>
            <a:ext cx="3611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El cliente es un LLM: describe bien</a:t>
            </a:r>
            <a:endParaRPr lang="en-US" sz="1350" dirty="0"/>
          </a:p>
        </p:txBody>
      </p:sp>
      <p:sp>
        <p:nvSpPr>
          <p:cNvPr id="19" name="code-panel"/>
          <p:cNvSpPr/>
          <p:nvPr/>
        </p:nvSpPr>
        <p:spPr>
          <a:xfrm>
            <a:off x="5897880" y="1280160"/>
            <a:ext cx="5742432" cy="3264408"/>
          </a:xfrm>
          <a:prstGeom prst="roundRect">
            <a:avLst>
              <a:gd name="adj" fmla="val 224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172200" y="14081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modelo llama a una herramienta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1737360"/>
            <a:ext cx="519379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Petición del cliente MCP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"jsonrpc": "2.0", "id": 7,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"method": "tools/call",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"params": {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"name": "create_task",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"arguments": { "title": "Preparar la demo" 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 }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Respuesta del servidor MCP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"jsonrpc": "2.0", "id": 7,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"result": { "content": [{ "type": "text",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"text": "Tarea #42 creada" }] } }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USOS REALES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icon-bg-FaTerminal"/>
          <p:cNvSpPr/>
          <p:nvPr/>
        </p:nvSpPr>
        <p:spPr>
          <a:xfrm>
            <a:off x="749808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con-FaTerminal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424221"/>
            <a:ext cx="252374" cy="25237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44752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Claude Code, IDEs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1444752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Hosts que conectan servidores MCP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37304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icon-bg-FaGithub"/>
          <p:cNvSpPr/>
          <p:nvPr/>
        </p:nvSpPr>
        <p:spPr>
          <a:xfrm>
            <a:off x="4538472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con-FaGithub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605" y="5424221"/>
            <a:ext cx="252374" cy="25237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33416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GitHub, Notion, BD</a:t>
            </a:r>
            <a:endParaRPr lang="en-US" sz="1450" dirty="0"/>
          </a:p>
        </p:txBody>
      </p:sp>
      <p:sp>
        <p:nvSpPr>
          <p:cNvPr id="32" name="Text 27"/>
          <p:cNvSpPr txBox="1"/>
          <p:nvPr/>
        </p:nvSpPr>
        <p:spPr>
          <a:xfrm>
            <a:off x="5233416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Servidores MCP ya disponibles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125968" y="5029200"/>
            <a:ext cx="3514344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icon-bg-FaTasks"/>
          <p:cNvSpPr/>
          <p:nvPr/>
        </p:nvSpPr>
        <p:spPr>
          <a:xfrm>
            <a:off x="8327136" y="5276088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con-FaTasks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269" y="5424221"/>
            <a:ext cx="252374" cy="25237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022080" y="5138928"/>
            <a:ext cx="2462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Tu propia API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022080" y="5486400"/>
            <a:ext cx="2462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Envuelve la tasks-api como tools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¿Cuál elijo? Empieza por la necesidad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325880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API pública, CRUD, muchos tipos de cliente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991356" y="1499616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991356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REST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212848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Pantallas que combinan muchos datos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991356" y="2386584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991356" y="23865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GraphQL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099816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Servicio ↔ servicio con baja latencia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991356" y="3273552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91356" y="3273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gRPC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86784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986784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El servidor avisa al navegador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991356" y="416052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991356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73752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77240" y="4873752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Ambos lados hablan en vivo (chat, juego)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991356" y="5047488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3991356" y="5047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WebSocket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77356" y="1325880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505956" y="1325880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Audio o video entre personas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720072" y="1499616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720072" y="149961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WebRTC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77356" y="2212848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505956" y="2212848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Avisar a otro sistema cuando algo pasa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720072" y="2386584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720072" y="23865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Webhook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77356" y="3099816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505956" y="3099816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Trabajo pesado en segundo plano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9720072" y="3273552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720072" y="3273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Cola (RabbitMQ)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505956" y="3986784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Flujo de eventos re-leíble y masivo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9720072" y="416052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720072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Kafka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77356" y="4873752"/>
            <a:ext cx="5362956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505956" y="4873752"/>
            <a:ext cx="31226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Miles de dispositivos con red pobre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9720072" y="5047488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9720072" y="5047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MQTT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582472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822960" y="5760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petición / respuesta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108960" y="5824728"/>
            <a:ext cx="182880" cy="1828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3383280" y="5760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tiempo real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669280" y="582472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943600" y="5760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accent5"/>
                </a:solidFill>
              </a:rPr>
              <a:t>asíncrono</a:t>
            </a:r>
            <a:endParaRPr lang="en-US" sz="12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chemeClr val="bg1"/>
                </a:solidFill>
              </a:rPr>
              <a:t>Taller: tareas en tiempo real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Sobre la tasks-api de la Semana 9  ·  ~25 minutos  ·  0 dependencias nuevas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0" dirty="0">
                <a:solidFill>
                  <a:schemeClr val="accent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Qué vamos a construir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737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requests.http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POST /api/tasks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1600200"/>
            <a:ext cx="1737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83464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Controller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create()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600200"/>
            <a:ext cx="17373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2920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create() + emit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600200"/>
            <a:ext cx="1737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23760" y="16002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Repository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insert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0" y="1600200"/>
            <a:ext cx="22860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418320" y="16002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Supabase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Postgres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2039112"/>
            <a:ext cx="36576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26280" y="2039112"/>
            <a:ext cx="36576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2039112"/>
            <a:ext cx="36576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15400" y="2039112"/>
            <a:ext cx="36576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2514600"/>
            <a:ext cx="914" cy="59436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43600" y="2606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emit('change')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219456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00600" y="3154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taskEvents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EventEmitter en memoria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543800" y="3154680"/>
            <a:ext cx="219456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635240" y="31546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GET /tasks/stream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>una respuesta abierta por cliente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49440" y="3593592"/>
            <a:ext cx="548640" cy="91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87000" y="2834640"/>
            <a:ext cx="135331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287000" y="283464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Navegador 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287000" y="3840480"/>
            <a:ext cx="1353312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0287000" y="3840480"/>
            <a:ext cx="1353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tx2"/>
                </a:solidFill>
              </a:rPr>
              <a:t>Navegador 2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 flipV="1">
            <a:off x="9784080" y="3108960"/>
            <a:ext cx="457200" cy="4114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784080" y="3666744"/>
            <a:ext cx="457200" cy="448056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4526280"/>
            <a:ext cx="256717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C9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31520" y="47365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31520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371600" y="4526280"/>
            <a:ext cx="165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 de eventos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src/lib/events.js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90138" y="4526280"/>
            <a:ext cx="256717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C9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573018" y="47365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3573018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213098" y="4526280"/>
            <a:ext cx="165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Publicar en el servicio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tasks.service.js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31636" y="4526280"/>
            <a:ext cx="256717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C9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14516" y="47365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414516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7054596" y="4526280"/>
            <a:ext cx="165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Endpoint SSE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tasks.controller.js + routes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073134" y="4526280"/>
            <a:ext cx="2567178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rgbClr val="C9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56014" y="47365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9256014" y="4736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9896094" y="4526280"/>
            <a:ext cx="165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Cliente HTML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public/live.html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1"/>
                </a:solidFill>
              </a:rPr>
              <a:t>¿Por qué SSE? </a:t>
            </a:r>
            <a:r>
              <a:rPr lang="en-US" sz="1450" dirty="0">
                <a:solidFill>
                  <a:schemeClr val="tx1"/>
                </a:solidFill>
              </a:rPr>
              <a:t>solo necesitamos servidor → cliente, y es HTTP normal: mismo Express, mismo CORS, mismo morgan.</a:t>
            </a:r>
            <a:endParaRPr lang="en-US" sz="14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Pasos 1 y 2: un bus de eventos y el servicio publica</a:t>
            </a:r>
            <a:endParaRPr lang="en-US" sz="34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4663440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53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src/lib/events.js  (nuevo)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114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 { EventEmitter } from 'node:events';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 const taskEvents = new EventEmitter();</a:t>
            </a:r>
            <a:endParaRPr lang="en-US" sz="1150" dirty="0"/>
          </a:p>
        </p:txBody>
      </p:sp>
      <p:sp>
        <p:nvSpPr>
          <p:cNvPr id="6" name="code-panel"/>
          <p:cNvSpPr/>
          <p:nvPr/>
        </p:nvSpPr>
        <p:spPr>
          <a:xfrm>
            <a:off x="5486400" y="1325880"/>
            <a:ext cx="6153912" cy="1600200"/>
          </a:xfrm>
          <a:prstGeom prst="roundRect">
            <a:avLst>
              <a:gd name="adj" fmla="val 457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760720" y="1453896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tasks.routes.js  (composition root)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83080"/>
            <a:ext cx="560527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 { taskEvents } from '../../lib/events.js';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 service = createTasksService(repository, taskEvents);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 controller = createTasksController(service, taskEvents);</a:t>
            </a:r>
            <a:endParaRPr lang="en-US" sz="1150" dirty="0"/>
          </a:p>
        </p:txBody>
      </p:sp>
      <p:sp>
        <p:nvSpPr>
          <p:cNvPr id="9" name="code-panel"/>
          <p:cNvSpPr/>
          <p:nvPr/>
        </p:nvSpPr>
        <p:spPr>
          <a:xfrm>
            <a:off x="548640" y="310896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23697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tasks.service.js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66160"/>
            <a:ext cx="105430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 function createTasksService(repository, events)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return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async create(data)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const task = await repository.create(data);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events.emit('change', { type: 'created', task });   // ← lo nuevo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return task;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},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// igual en update → 'updated'  y  remove → 'deleted'</a:t>
            </a:r>
            <a:endParaRPr lang="en-US" sz="1250" dirty="0"/>
          </a:p>
        </p:txBody>
      </p:sp>
      <p:sp>
        <p:nvSpPr>
          <p:cNvPr id="12" name="icon-bg-FaEye"/>
          <p:cNvSpPr/>
          <p:nvPr/>
        </p:nvSpPr>
        <p:spPr>
          <a:xfrm>
            <a:off x="548640" y="55138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on-FaEy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5661965"/>
            <a:ext cx="252374" cy="25237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325880" y="5468112"/>
            <a:ext cx="10314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Patrón Observer (Semana 7) + inyección de dependencias: </a:t>
            </a:r>
            <a:r>
              <a:rPr lang="en-US" sz="1400" dirty="0">
                <a:solidFill>
                  <a:schemeClr val="tx1"/>
                </a:solidFill>
              </a:rPr>
              <a:t>el servicio anuncia «algo cambió» sin saber quién escucha. Mañana el que escucha puede ser Redis o Kafka y el servicio no cambia.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Paso 3: el endpoint SSE</a:t>
            </a:r>
            <a:endParaRPr lang="en-US" sz="34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6858000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5389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tasks.controller.js  (nuevo método)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630936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stream(req, res) 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res.set({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'Content-Type': 'text/event-stream',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'Cache-Control': 'no-cache',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Connection: 'keep-alive',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res.flushHeaders();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const send = (event) =&gt;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res.write(`data: ${JSON.stringify(event)}\n\n`);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events.on('change', send);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req.on('close', () =&gt; events.off('change', send));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tasks.routes.js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tasksRouter.get('/stream', controller.stream);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26680" y="139903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2668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75320" y="132588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text/event-stream le dice al navegador que la respuesta no termina.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26680" y="2359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2668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28600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flushHeaders()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envía los headers ya, sin esperar el primer evento.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26680" y="331927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2668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24612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…\n\n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cada evento es «data:» + una línea en blanco. Ese es todo el protocolo.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26680" y="42793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2668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420624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req.on('close')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al cerrar la pestaña quitamos el listener: sin esto hay fuga de memoria.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26680" y="5239512"/>
            <a:ext cx="411480" cy="41148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26680" y="5239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5166360"/>
            <a:ext cx="33649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Orden de rutas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/stream va antes de /:id, o Express lo toma como un 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Paso 4: el cliente en el navegador</a:t>
            </a:r>
            <a:endParaRPr lang="en-US" sz="3400" dirty="0"/>
          </a:p>
        </p:txBody>
      </p:sp>
      <p:sp>
        <p:nvSpPr>
          <p:cNvPr id="3" name="code-panel"/>
          <p:cNvSpPr/>
          <p:nvPr/>
        </p:nvSpPr>
        <p:spPr>
          <a:xfrm>
            <a:off x="548640" y="1325880"/>
            <a:ext cx="64008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45389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src/app.js  (una línea)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5852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app.use(express.static('public'));</a:t>
            </a:r>
            <a:endParaRPr lang="en-US" sz="1300" dirty="0"/>
          </a:p>
        </p:txBody>
      </p:sp>
      <p:sp>
        <p:nvSpPr>
          <p:cNvPr id="6" name="code-panel"/>
          <p:cNvSpPr/>
          <p:nvPr/>
        </p:nvSpPr>
        <p:spPr>
          <a:xfrm>
            <a:off x="548640" y="2560320"/>
            <a:ext cx="640080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6883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public/live.html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58521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&lt;h1&gt;Tareas en vivo&lt;/h1&gt;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 id="log"&gt;&lt;/ul&gt;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const log = document.getElementById('log');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const source = new EventSource('/api/tasks/stream');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source.onmessage = (e) =&gt; {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const { type, task } = JSON.parse(e.data);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const li = document.createElement('li');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li.textContent = `${type}: #${task.id} ${task.title ?? ''}`;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log.prepend(li);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};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0" y="1325880"/>
            <a:ext cx="4325112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5875">
            <a:solidFill>
              <a:srgbClr val="B9C9D8"/>
            </a:solidFill>
            <a:prstDash val="solid"/>
          </a:ln>
          <a:effectLst>
            <a:outerShdw blurRad="101600" dist="25400" dir="5400000" algn="bl" rotWithShape="0">
              <a:srgbClr val="16324E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33488" y="1344168"/>
            <a:ext cx="4288536" cy="4572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1490472"/>
            <a:ext cx="146304" cy="146304"/>
          </a:xfrm>
          <a:prstGeom prst="ellipse">
            <a:avLst/>
          </a:prstGeom>
          <a:solidFill>
            <a:srgbClr val="B9C9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26680" y="1490472"/>
            <a:ext cx="146304" cy="146304"/>
          </a:xfrm>
          <a:prstGeom prst="ellipse">
            <a:avLst/>
          </a:prstGeom>
          <a:solidFill>
            <a:srgbClr val="B9C9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1490472"/>
            <a:ext cx="146304" cy="146304"/>
          </a:xfrm>
          <a:prstGeom prst="ellipse">
            <a:avLst/>
          </a:prstGeom>
          <a:solidFill>
            <a:srgbClr val="B9C9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0" y="1426464"/>
            <a:ext cx="3136392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12480" y="1426464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localhost:3000/live.html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196596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Tareas en vivo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56032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deleted: #1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97180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updated: #1 Preparar la demo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38328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created: #2 Revisar el foro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79476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created: #1 Preparar la demo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029200"/>
            <a:ext cx="4325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El más nuevo arriba (prepend). Sin recargar la página.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5486400"/>
            <a:ext cx="4325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Gratis con EventSource: </a:t>
            </a:r>
            <a:r>
              <a:rPr lang="en-US" sz="1350" dirty="0">
                <a:solidFill>
                  <a:schemeClr val="tx1"/>
                </a:solidFill>
              </a:rPr>
              <a:t>si se cae el servidor, el navegador reconecta solo.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Paso 5: probarlo</a:t>
            </a:r>
            <a:endParaRPr lang="en-US" sz="3400" dirty="0"/>
          </a:p>
        </p:txBody>
      </p:sp>
      <p:sp>
        <p:nvSpPr>
          <p:cNvPr id="3" name="icon-bg-FaPlay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con-FaPlay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62" y="1590142"/>
            <a:ext cx="294437" cy="2944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25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Levantar la API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6" name="icon-bg-FaWindowRestore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con-FaWindowRestor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2" y="2687422"/>
            <a:ext cx="294437" cy="2944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Abrir dos pestañas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localhost:3000/live.html</a:t>
            </a:r>
            <a:endParaRPr lang="en-US" sz="1400" dirty="0"/>
          </a:p>
        </p:txBody>
      </p:sp>
      <p:sp>
        <p:nvSpPr>
          <p:cNvPr id="9" name="icon-bg-FaPaperPlane"/>
          <p:cNvSpPr/>
          <p:nvPr/>
        </p:nvSpPr>
        <p:spPr>
          <a:xfrm>
            <a:off x="548640" y="3611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con-FaPaperPla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2" y="3784702"/>
            <a:ext cx="294437" cy="29443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35204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Crear, editar y borrar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requests.http o Swagger (/api/docs)</a:t>
            </a:r>
            <a:endParaRPr lang="en-US" sz="1400" dirty="0"/>
          </a:p>
        </p:txBody>
      </p:sp>
      <p:sp>
        <p:nvSpPr>
          <p:cNvPr id="12" name="icon-bg-FaTerminal"/>
          <p:cNvSpPr/>
          <p:nvPr/>
        </p:nvSpPr>
        <p:spPr>
          <a:xfrm>
            <a:off x="548640" y="4709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con-FaTerminal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2" y="4881982"/>
            <a:ext cx="294437" cy="29443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71600" y="4617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Ver el stream crudo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-N localhost:3000/api/tasks/stream</a:t>
            </a:r>
            <a:endParaRPr lang="en-US" sz="1400" dirty="0"/>
          </a:p>
        </p:txBody>
      </p:sp>
      <p:sp>
        <p:nvSpPr>
          <p:cNvPr id="15" name="code-panel"/>
          <p:cNvSpPr/>
          <p:nvPr/>
        </p:nvSpPr>
        <p:spPr>
          <a:xfrm>
            <a:off x="5897880" y="1325880"/>
            <a:ext cx="5742432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 txBox="1"/>
          <p:nvPr/>
        </p:nvSpPr>
        <p:spPr>
          <a:xfrm>
            <a:off x="6172200" y="14538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-N localhost:3000/api/tasks/stream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172200" y="1783080"/>
            <a:ext cx="519379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 {"type":"created","task":{"id":1,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"title":"Preparar la demo","done":false,...}}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 {"type":"updated","task":{"id":1,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"title":"Preparar la demo","done":true,...}}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 {"type":"deleted","task":{"id":1}}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la conexión sigue abierta, esperando...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897880" y="475488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Salida real de la prueba (líneas partidas para que quepan). -N desactiva el buffer de curl.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chemeClr val="tx2"/>
                </a:solidFill>
              </a:rPr>
              <a:t>Para pensar: ¿qué se rompe en producción?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08676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icon-bg-FaServer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con-FaServer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17" y="17149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Tres instancias detrás de un balanceador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94560"/>
            <a:ext cx="4219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EventEmitter vive en memoria: un POST en la instancia A no llega a quien está conectado a B.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89864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</a:t>
            </a:r>
            <a:r>
              <a:rPr lang="en-US" sz="1400" b="1" dirty="0">
                <a:solidFill>
                  <a:schemeClr val="accent1"/>
                </a:solidFill>
              </a:rPr>
              <a:t>Redis Pub/Sub o Kafka como bus.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31636" y="1325880"/>
            <a:ext cx="5408676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icon-bg-FaDatabase"/>
          <p:cNvSpPr/>
          <p:nvPr/>
        </p:nvSpPr>
        <p:spPr>
          <a:xfrm>
            <a:off x="6460236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con-FaDatabas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713" y="171495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7476" y="155448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Alguien cambia la base de datos directo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37476" y="2194560"/>
            <a:ext cx="4219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 el cambio no pasa por el servicio, nadie emite el evento.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237476" y="289864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</a:t>
            </a:r>
            <a:r>
              <a:rPr lang="en-US" sz="1400" b="1" dirty="0">
                <a:solidFill>
                  <a:schemeClr val="accent1"/>
                </a:solidFill>
              </a:rPr>
              <a:t>Supabase Realtime / CDC: escuchar a Postgres.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703320"/>
            <a:ext cx="5408676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icon-bg-FaLock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con-FaLock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717" y="4092397"/>
            <a:ext cx="273406" cy="27340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9319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API tiene autenticación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572000"/>
            <a:ext cx="4219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EventSource no permite enviar el header Authorization.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554480" y="527608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</a:t>
            </a:r>
            <a:r>
              <a:rPr lang="en-US" sz="1400" b="1" dirty="0">
                <a:solidFill>
                  <a:schemeClr val="accent1"/>
                </a:solidFill>
              </a:rPr>
              <a:t>Cookie de sesión o un token corto en la query.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31636" y="3703320"/>
            <a:ext cx="5408676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icon-bg-FaExchangeAlt"/>
          <p:cNvSpPr/>
          <p:nvPr/>
        </p:nvSpPr>
        <p:spPr>
          <a:xfrm>
            <a:off x="6460236" y="3931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con-FaExchangeAl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713" y="4092397"/>
            <a:ext cx="273406" cy="2734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37476" y="3931920"/>
            <a:ext cx="4219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cliente también necesita enviar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237476" y="4572000"/>
            <a:ext cx="4219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SSE es solo servidor → cliente.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237476" y="5276088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→ </a:t>
            </a:r>
            <a:r>
              <a:rPr lang="en-US" sz="1400" b="1" dirty="0">
                <a:solidFill>
                  <a:schemeClr val="accent1"/>
                </a:solidFill>
              </a:rPr>
              <a:t>WebSocket (ws o Socket.IO).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3"/>
                </a:solidFill>
              </a:rPr>
              <a:t>RETO PARA LA CASA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Cambia live.html para que muestre la lista completa de tareas (GET /api/tasks) y la mantenga actualizada con los eventos.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de Software">
  <a:themeElements>
    <a:clrScheme name="Diseño de Software">
      <a:dk1>
        <a:srgbClr val="16324E"/>
      </a:dk1>
      <a:lt1>
        <a:srgbClr val="FFFFFF"/>
      </a:lt1>
      <a:dk2>
        <a:srgbClr val="0E3A5F"/>
      </a:dk2>
      <a:lt2>
        <a:srgbClr val="E9F2FB"/>
      </a:lt2>
      <a:accent1>
        <a:srgbClr val="2072B8"/>
      </a:accent1>
      <a:accent2>
        <a:srgbClr val="0E4C7E"/>
      </a:accent2>
      <a:accent3>
        <a:srgbClr val="4A9FD4"/>
      </a:accent3>
      <a:accent4>
        <a:srgbClr val="7FC1E6"/>
      </a:accent4>
      <a:accent5>
        <a:srgbClr val="5B7E9C"/>
      </a:accent5>
      <a:accent6>
        <a:srgbClr val="E8913A"/>
      </a:accent6>
      <a:hlink>
        <a:srgbClr val="2072B8"/>
      </a:hlink>
      <a:folHlink>
        <a:srgbClr val="5B7E9C"/>
      </a:folHlink>
    </a:clrScheme>
    <a:fontScheme name="Diseño de Softwar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3497</Words>
  <Application>Microsoft Office PowerPoint</Application>
  <PresentationFormat>Widescreen</PresentationFormat>
  <Paragraphs>648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Consolas</vt:lpstr>
      <vt:lpstr>Times New Roman</vt:lpstr>
      <vt:lpstr>Diseño de Software</vt:lpstr>
      <vt:lpstr>Protocolos e interfaces de sistemas</vt:lpstr>
      <vt:lpstr>Una interfaz es un contrato</vt:lpstr>
      <vt:lpstr>El mapa: cuatro familias de protocolos</vt:lpstr>
      <vt:lpstr>Todo viaja sobre algo: la pila de protocolos</vt:lpstr>
      <vt:lpstr>Petición / respuesta</vt:lpstr>
      <vt:lpstr>REST: recursos sobre HTTP</vt:lpstr>
      <vt:lpstr>GraphQL: el cliente elige la forma</vt:lpstr>
      <vt:lpstr>gRPC: funciones remotas tipadas</vt:lpstr>
      <vt:lpstr>Los clásicos que siguen vivos: SOAP y JSON-RPC</vt:lpstr>
      <vt:lpstr>Comparativa: petición / respuesta</vt:lpstr>
      <vt:lpstr>Tiempo real</vt:lpstr>
      <vt:lpstr>Cuatro formas de enterarse de un cambio</vt:lpstr>
      <vt:lpstr>WebSocket: conversación en ambos sentidos</vt:lpstr>
      <vt:lpstr>Server-Sent Events: el servidor empuja</vt:lpstr>
      <vt:lpstr>WebRTC: directo entre pares</vt:lpstr>
      <vt:lpstr>Asíncrono y eventos</vt:lpstr>
      <vt:lpstr>Webhooks: la API al revés</vt:lpstr>
      <vt:lpstr>Message brokers: cola de trabajo vs log de eventos</vt:lpstr>
      <vt:lpstr>MQTT: pub/sub para dispositivos</vt:lpstr>
      <vt:lpstr>Interfaces para IA: Model Context Protocol</vt:lpstr>
      <vt:lpstr>¿Cuál elijo? Empieza por la necesidad</vt:lpstr>
      <vt:lpstr>Taller: tareas en tiempo real</vt:lpstr>
      <vt:lpstr>Qué vamos a construir</vt:lpstr>
      <vt:lpstr>Pasos 1 y 2: un bus de eventos y el servicio publica</vt:lpstr>
      <vt:lpstr>Paso 3: el endpoint SSE</vt:lpstr>
      <vt:lpstr>Paso 4: el cliente en el navegador</vt:lpstr>
      <vt:lpstr>Paso 5: probarlo</vt:lpstr>
      <vt:lpstr>Para pensar: ¿qué se rompe en producción?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Protocolos e interfaces de sistemas</dc:title>
  <dc:subject>PptxGenJS Presentation</dc:subject>
  <dc:creator>Jonathan Solís Parajeles</dc:creator>
  <cp:lastModifiedBy>Jonathan Andres Solis Parajeles</cp:lastModifiedBy>
  <cp:revision>2</cp:revision>
  <dcterms:created xsi:type="dcterms:W3CDTF">2026-10-15T16:19:34Z</dcterms:created>
  <dcterms:modified xsi:type="dcterms:W3CDTF">2026-10-15T17:38:00Z</dcterms:modified>
</cp:coreProperties>
</file>