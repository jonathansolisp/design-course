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AB686-8F02-40F6-B32F-A1BB4D62AA6A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B2FB9-5B4D-4732-A397-34067E7A4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85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52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95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33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32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81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486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795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59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05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35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543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1" r:id="rId6"/>
    <p:sldLayoutId id="2147483697" r:id="rId7"/>
    <p:sldLayoutId id="2147483698" r:id="rId8"/>
    <p:sldLayoutId id="2147483699" r:id="rId9"/>
    <p:sldLayoutId id="2147483700" r:id="rId10"/>
    <p:sldLayoutId id="214748370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75A47F-08FE-1B4E-3372-1DC8E4EE7B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US" dirty="0" err="1"/>
              <a:t>Software Architecture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41CCB5-B018-F247-A801-4B679BD5F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r>
              <a:rPr lang="es-MX"/>
              <a:t>Designing the Blueprint for Scalable Systems</a:t>
            </a:r>
          </a:p>
          <a:p>
            <a:r>
              <a:rPr lang="es-MX"/>
              <a:t>Ing. Jonathan Solis Parajeles  /  ITCR</a:t>
            </a:r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Colored pencils inside a pencil holder which is on top of a wood table">
            <a:extLst>
              <a:ext uri="{FF2B5EF4-FFF2-40B4-BE49-F238E27FC236}">
                <a16:creationId xmlns:a16="http://schemas.microsoft.com/office/drawing/2014/main" id="{15C75BD2-65B5-7FFE-0B67-BACB16F496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451" r="294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57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66B0D-65B5-E3ED-F2C2-D58A8BF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1" y="559063"/>
            <a:ext cx="3388534" cy="5256025"/>
          </a:xfrm>
        </p:spPr>
        <p:txBody>
          <a:bodyPr>
            <a:normAutofit/>
          </a:bodyPr>
          <a:lstStyle/>
          <a:p>
            <a:r>
              <a:rPr lang="en-US" sz="3600" dirty="0"/>
              <a:t>What is Software Architecture?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18013B4D-FC90-0452-0583-E05325DD73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43437" y="1371600"/>
            <a:ext cx="684447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high-level structure of a software system: its components, their relationships, and the principles that guide its design and evolution.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Captures the significant decisions that are expensive to change later.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Acts as a shared blueprint that aligns developers, architects, and stakeholders.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Bridges business goals and technical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345647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66B0D-65B5-E3ED-F2C2-D58A8BF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/>
              <a:t>Why It Matters</a:t>
            </a:r>
            <a:endParaRPr lang="en-US" sz="3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18013B4D-FC90-0452-0583-E05325DD73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43437" y="1371600"/>
            <a:ext cx="684447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scalability, maintainability, and performance from the start.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Guides development teams and aligns stakeholders around a common vision.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Reduces long-term cost by avoiding ad-hoc, hard-to-reverse decisions.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Makes quality attributes such as security and reliability explicit and testable.</a:t>
            </a:r>
          </a:p>
        </p:txBody>
      </p:sp>
    </p:spTree>
    <p:extLst>
      <p:ext uri="{BB962C8B-B14F-4D97-AF65-F5344CB8AC3E}">
        <p14:creationId xmlns:p14="http://schemas.microsoft.com/office/powerpoint/2010/main" val="3345647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66B0D-65B5-E3ED-F2C2-D58A8BF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/>
              <a:t>Core Architectural Styles</a:t>
            </a:r>
            <a:endParaRPr lang="en-US" sz="3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18013B4D-FC90-0452-0583-E05325DD73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43437" y="1371600"/>
            <a:ext cx="684447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Layered (n-tier)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organizes the system into UI, business logic, and data tiers.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Microservices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independent, loosely coupled services deployed separately.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Event-Driven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components react asynchronously to events and messages.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Client-Server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a central server provides resources to multiple clients.</a:t>
            </a:r>
          </a:p>
        </p:txBody>
      </p:sp>
    </p:spTree>
    <p:extLst>
      <p:ext uri="{BB962C8B-B14F-4D97-AF65-F5344CB8AC3E}">
        <p14:creationId xmlns:p14="http://schemas.microsoft.com/office/powerpoint/2010/main" val="3345647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66B0D-65B5-E3ED-F2C2-D58A8BF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1" y="559063"/>
            <a:ext cx="3394884" cy="5256025"/>
          </a:xfrm>
        </p:spPr>
        <p:txBody>
          <a:bodyPr>
            <a:normAutofit/>
          </a:bodyPr>
          <a:lstStyle/>
          <a:p>
            <a:r>
              <a:rPr lang="en-US" sz="3600" dirty="0"/>
              <a:t>Monolithic</a:t>
            </a:r>
            <a:br>
              <a:rPr lang="en-US" sz="3600" dirty="0"/>
            </a:br>
            <a:r>
              <a:rPr lang="en-US" sz="3600" dirty="0"/>
              <a:t>vs Microservices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0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000" y="1571150"/>
            <a:ext cx="7179999" cy="369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647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66B0D-65B5-E3ED-F2C2-D58A8BF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dirty="0"/>
              <a:t>Layered</a:t>
            </a:r>
            <a:br>
              <a:rPr lang="en-US" sz="3600" dirty="0"/>
            </a:br>
            <a:r>
              <a:rPr lang="en-US" sz="3600" dirty="0"/>
              <a:t>(n-tier)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0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000" y="1400625"/>
            <a:ext cx="7180000" cy="40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647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66B0D-65B5-E3ED-F2C2-D58A8BF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59063"/>
            <a:ext cx="3439335" cy="5256025"/>
          </a:xfrm>
        </p:spPr>
        <p:txBody>
          <a:bodyPr>
            <a:normAutofit/>
          </a:bodyPr>
          <a:lstStyle/>
          <a:p>
            <a:r>
              <a:rPr lang="en-US" sz="3600"/>
              <a:t>Microservices</a:t>
            </a:r>
            <a:endParaRPr lang="en-US" sz="3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0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751" y="830000"/>
            <a:ext cx="6748498" cy="5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647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66B0D-65B5-E3ED-F2C2-D58A8BF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/>
              <a:t>Event-Driven</a:t>
            </a:r>
            <a:endParaRPr lang="en-US" sz="3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0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000" y="1400625"/>
            <a:ext cx="7180000" cy="40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647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66B0D-65B5-E3ED-F2C2-D58A8BF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/>
              <a:t>Client-Server</a:t>
            </a:r>
            <a:endParaRPr lang="en-US" sz="3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0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000" y="1416747"/>
            <a:ext cx="7180000" cy="40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647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66B0D-65B5-E3ED-F2C2-D58A8BF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/>
              <a:t>Key Components &amp; Connectors</a:t>
            </a:r>
            <a:endParaRPr lang="en-US" sz="3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18013B4D-FC90-0452-0583-E05325DD73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43437" y="1371600"/>
            <a:ext cx="684447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Components: modules, services, databases, and APIs that carry responsibility.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Connectors: protocols, message queues, and service buses that link them.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Configuration: how components and connectors are arranged at runtime.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Clear interfaces keep components replaceable and loosely coupled.</a:t>
            </a:r>
          </a:p>
        </p:txBody>
      </p:sp>
    </p:spTree>
    <p:extLst>
      <p:ext uri="{BB962C8B-B14F-4D97-AF65-F5344CB8AC3E}">
        <p14:creationId xmlns:p14="http://schemas.microsoft.com/office/powerpoint/2010/main" val="3345647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66B0D-65B5-E3ED-F2C2-D58A8BF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/>
              <a:t>Quality Attributes</a:t>
            </a:r>
            <a:endParaRPr lang="en-US" sz="3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18013B4D-FC90-0452-0583-E05325DD73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43437" y="1371600"/>
            <a:ext cx="684447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Performance – response time and throughput under expected load.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Security – authentication, authorization, and encryption.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Scalability – horizontal and vertical scaling to meet demand.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Maintainability – ease of updating, testing, and debugging over time.</a:t>
            </a:r>
          </a:p>
        </p:txBody>
      </p:sp>
    </p:spTree>
    <p:extLst>
      <p:ext uri="{BB962C8B-B14F-4D97-AF65-F5344CB8AC3E}">
        <p14:creationId xmlns:p14="http://schemas.microsoft.com/office/powerpoint/2010/main" val="3345647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66B0D-65B5-E3ED-F2C2-D58A8BF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99" y="559063"/>
            <a:ext cx="3404335" cy="5256025"/>
          </a:xfrm>
        </p:spPr>
        <p:txBody>
          <a:bodyPr>
            <a:normAutofit/>
          </a:bodyPr>
          <a:lstStyle/>
          <a:p>
            <a:r>
              <a:rPr lang="en-US" sz="3600" dirty="0"/>
              <a:t>Architectural Styles &amp; Patterns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18013B4D-FC90-0452-0583-E05325DD73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43437" y="1371600"/>
            <a:ext cx="684447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style is a broad, system-wide way of organizing components (layered, microservices, event-driven).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pattern is a reusable solution to a recurring design problem within that style.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Styles set the overall shape; patterns solve concrete structural concerns.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Well-chosen patterns realize the quality attributes a style promises.</a:t>
            </a:r>
          </a:p>
        </p:txBody>
      </p:sp>
    </p:spTree>
    <p:extLst>
      <p:ext uri="{BB962C8B-B14F-4D97-AF65-F5344CB8AC3E}">
        <p14:creationId xmlns:p14="http://schemas.microsoft.com/office/powerpoint/2010/main" val="3345647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66B0D-65B5-E3ED-F2C2-D58A8BF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99" y="559063"/>
            <a:ext cx="3404335" cy="5256025"/>
          </a:xfrm>
        </p:spPr>
        <p:txBody>
          <a:bodyPr>
            <a:normAutofit/>
          </a:bodyPr>
          <a:lstStyle/>
          <a:p>
            <a:r>
              <a:rPr lang="en-US" sz="3600" dirty="0"/>
              <a:t>Common Architectural Patterns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18013B4D-FC90-0452-0583-E05325DD73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43437" y="1371600"/>
            <a:ext cx="684447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MVC / MVVM – separate presentation, logic, and state.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Microkernel (plug-in) – a minimal core extended by add-on modules.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Pipes &amp; Filters – process data through a chain of independent stages.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CQRS &amp; Event Sourcing – split reads from writes; store state as events.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Broker / Publish-Subscribe – decouple senders and receivers via a mediator.</a:t>
            </a:r>
          </a:p>
        </p:txBody>
      </p:sp>
    </p:spTree>
    <p:extLst>
      <p:ext uri="{BB962C8B-B14F-4D97-AF65-F5344CB8AC3E}">
        <p14:creationId xmlns:p14="http://schemas.microsoft.com/office/powerpoint/2010/main" val="3345647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66B0D-65B5-E3ED-F2C2-D58A8BF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dirty="0"/>
              <a:t>Technology Trends in Software Architecture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18013B4D-FC90-0452-0583-E05325DD73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43437" y="1371600"/>
            <a:ext cx="684447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Cloud-native &amp; serverless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elastic, managed, event-driven compute.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Containers &amp; Kubernetes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portable packaging and automated orchestration.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Microservices &amp; service mesh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fine-grained services with managed communication.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Edge computing &amp; real-time streaming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processing closer to data, as it happens.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AI-assisted architecture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copilots and LLMs supporting design and operations.</a:t>
            </a:r>
          </a:p>
        </p:txBody>
      </p:sp>
    </p:spTree>
    <p:extLst>
      <p:ext uri="{BB962C8B-B14F-4D97-AF65-F5344CB8AC3E}">
        <p14:creationId xmlns:p14="http://schemas.microsoft.com/office/powerpoint/2010/main" val="3345647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66B0D-65B5-E3ED-F2C2-D58A8BF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dirty="0"/>
              <a:t>Enterprise Application Architecture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18013B4D-FC90-0452-0583-E05325DD73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43437" y="1371600"/>
            <a:ext cx="684447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Structures large-scale business systems that span many users, processes, and data sources.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Organized into four domains: business, application, data, and technology.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Guided by frameworks such as TOGAF and the Zachman Framework.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Aligns IT capabilities with enterprise strategy and governance.</a:t>
            </a:r>
          </a:p>
        </p:txBody>
      </p:sp>
    </p:spTree>
    <p:extLst>
      <p:ext uri="{BB962C8B-B14F-4D97-AF65-F5344CB8AC3E}">
        <p14:creationId xmlns:p14="http://schemas.microsoft.com/office/powerpoint/2010/main" val="3345647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66B0D-65B5-E3ED-F2C2-D58A8BF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/>
              <a:t>Enterprise Integration &amp; Patterns</a:t>
            </a:r>
            <a:endParaRPr lang="en-US" sz="3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18013B4D-FC90-0452-0583-E05325DD73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43437" y="1371600"/>
            <a:ext cx="684447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Multi-tier (n-tier) – presentation, application, and data tiers at enterprise scale.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SOA &amp; ESB – reusable services integrated through an enterprise service bus.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API-led connectivity – layered system, process, and experience APIs.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Domain-Driven Design – model complex domains around bounded contexts.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Emphasis on security, transactions, and high availability.</a:t>
            </a:r>
          </a:p>
        </p:txBody>
      </p:sp>
    </p:spTree>
    <p:extLst>
      <p:ext uri="{BB962C8B-B14F-4D97-AF65-F5344CB8AC3E}">
        <p14:creationId xmlns:p14="http://schemas.microsoft.com/office/powerpoint/2010/main" val="3345647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66B0D-65B5-E3ED-F2C2-D58A8BF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/>
              <a:t>Tools &amp; Frameworks</a:t>
            </a:r>
            <a:endParaRPr lang="en-US" sz="3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18013B4D-FC90-0452-0583-E05325DD73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43437" y="1371600"/>
            <a:ext cx="684447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UML, ArchiMate, and PlantUML for modeling and diagrams.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C4 model for communicating architecture at different levels.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 architecture tools (AWS, Azure, GCP) for design and provisioning.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CI/CD pipelines and fitness functions to validate architecture continuously.</a:t>
            </a:r>
          </a:p>
        </p:txBody>
      </p:sp>
    </p:spTree>
    <p:extLst>
      <p:ext uri="{BB962C8B-B14F-4D97-AF65-F5344CB8AC3E}">
        <p14:creationId xmlns:p14="http://schemas.microsoft.com/office/powerpoint/2010/main" val="3345647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66B0D-65B5-E3ED-F2C2-D58A8BF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/>
              <a:t>For The Road</a:t>
            </a:r>
            <a:endParaRPr lang="en-US" sz="3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18013B4D-FC90-0452-0583-E05325DD73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43437" y="1371600"/>
            <a:ext cx="684447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to the Microsoft Azure Portal.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 in using your TEC account.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Validate that you have enough credits.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Explore and experiment with the services.</a:t>
            </a:r>
          </a:p>
        </p:txBody>
      </p:sp>
    </p:spTree>
    <p:extLst>
      <p:ext uri="{BB962C8B-B14F-4D97-AF65-F5344CB8AC3E}">
        <p14:creationId xmlns:p14="http://schemas.microsoft.com/office/powerpoint/2010/main" val="3345647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66B0D-65B5-E3ED-F2C2-D58A8BF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/>
              <a:t>Best Practices Reading</a:t>
            </a:r>
            <a:endParaRPr lang="en-US" sz="3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18013B4D-FC90-0452-0583-E05325DD73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43437" y="1371600"/>
            <a:ext cx="684447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“Best Practices in Software Architecture for Scalable, Secure, and Maintainable Systems” – DEV Community.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“Software Architecture Design Best Practices You Should Know.”</a:t>
            </a:r>
          </a:p>
        </p:txBody>
      </p:sp>
    </p:spTree>
    <p:extLst>
      <p:ext uri="{BB962C8B-B14F-4D97-AF65-F5344CB8AC3E}">
        <p14:creationId xmlns:p14="http://schemas.microsoft.com/office/powerpoint/2010/main" val="3345647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B77D6FC-012D-3D22-33B5-357EA3143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558613-C557-2A1C-D375-216F99210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590800"/>
            <a:ext cx="7467600" cy="17147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 dirty="0"/>
              <a:t>Thank You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EA07B3D-8AA3-9C2B-61B0-F02C9733C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943771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85238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759</Words>
  <Application>Microsoft Office PowerPoint</Application>
  <PresentationFormat>Widescreen</PresentationFormat>
  <Paragraphs>75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Calisto MT</vt:lpstr>
      <vt:lpstr>Univers Condensed</vt:lpstr>
      <vt:lpstr>ChronicleVTI</vt:lpstr>
      <vt:lpstr>Software Architecture</vt:lpstr>
      <vt:lpstr>What is Software Architecture?</vt:lpstr>
      <vt:lpstr>Why It Matters</vt:lpstr>
      <vt:lpstr>Core Architectural Styles</vt:lpstr>
      <vt:lpstr>Monolithic vs Microservices</vt:lpstr>
      <vt:lpstr>Layered (n-tier)</vt:lpstr>
      <vt:lpstr>Microservices</vt:lpstr>
      <vt:lpstr>Event-Driven</vt:lpstr>
      <vt:lpstr>Client-Server</vt:lpstr>
      <vt:lpstr>Key Components &amp; Connectors</vt:lpstr>
      <vt:lpstr>Quality Attributes</vt:lpstr>
      <vt:lpstr>Architectural Styles &amp; Patterns</vt:lpstr>
      <vt:lpstr>Common Architectural Patterns</vt:lpstr>
      <vt:lpstr>Technology Trends in Software Architecture</vt:lpstr>
      <vt:lpstr>Enterprise Application Architecture</vt:lpstr>
      <vt:lpstr>Enterprise Integration &amp; Patterns</vt:lpstr>
      <vt:lpstr>Tools &amp; Frameworks</vt:lpstr>
      <vt:lpstr>For The Road</vt:lpstr>
      <vt:lpstr>Best Practices Reading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Architecture</dc:title>
  <dc:creator>Jonathan Andres Solis Parajeles</dc:creator>
  <cp:lastModifiedBy>Jonathan Andres Solis Parajeles</cp:lastModifiedBy>
  <cp:revision>32</cp:revision>
  <dcterms:created xsi:type="dcterms:W3CDTF">2025-08-28T03:53:11Z</dcterms:created>
  <dcterms:modified xsi:type="dcterms:W3CDTF">2026-09-10T17:04:21Z</dcterms:modified>
</cp:coreProperties>
</file>