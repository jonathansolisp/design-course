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4"/>
  </p:sldMasterIdLst>
  <p:notesMasterIdLst>
    <p:notesMasterId r:id="rId28"/>
  </p:notesMasterIdLst>
  <p:handoutMasterIdLst>
    <p:handoutMasterId r:id="rId29"/>
  </p:handoutMasterIdLst>
  <p:sldIdLst>
    <p:sldId id="256" r:id="rId5"/>
    <p:sldId id="257" r:id="rId6"/>
    <p:sldId id="258" r:id="rId7"/>
    <p:sldId id="266" r:id="rId8"/>
    <p:sldId id="278" r:id="rId9"/>
    <p:sldId id="267" r:id="rId10"/>
    <p:sldId id="279" r:id="rId11"/>
    <p:sldId id="268" r:id="rId12"/>
    <p:sldId id="259" r:id="rId13"/>
    <p:sldId id="269" r:id="rId14"/>
    <p:sldId id="260" r:id="rId15"/>
    <p:sldId id="270" r:id="rId16"/>
    <p:sldId id="271" r:id="rId17"/>
    <p:sldId id="261" r:id="rId18"/>
    <p:sldId id="273" r:id="rId19"/>
    <p:sldId id="274" r:id="rId20"/>
    <p:sldId id="262" r:id="rId21"/>
    <p:sldId id="275" r:id="rId22"/>
    <p:sldId id="263" r:id="rId23"/>
    <p:sldId id="264" r:id="rId24"/>
    <p:sldId id="277" r:id="rId25"/>
    <p:sldId id="276" r:id="rId26"/>
    <p:sldId id="26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269538-BFC5-48BB-BEA1-D7AF1F385FD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0D51337A-31FA-4717-B2BF-9243F96D2B9B}">
      <dgm:prSet phldrT="[Text]"/>
      <dgm:spPr/>
      <dgm:t>
        <a:bodyPr/>
        <a:lstStyle/>
        <a:p>
          <a:r>
            <a:rPr lang="es-ES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Por qué importa UX/UI</a:t>
          </a:r>
        </a:p>
      </dgm:t>
    </dgm:pt>
    <dgm:pt modelId="{A9294D65-F371-46C8-A624-E557E9DF1A30}" type="parTrans" cxnId="{9E6BB655-7FE4-4F8D-B1D2-F885E60B8754}">
      <dgm:prSet/>
      <dgm:spPr/>
      <dgm:t>
        <a:bodyPr/>
        <a:lstStyle/>
        <a:p>
          <a:endParaRPr lang="es-ES"/>
        </a:p>
      </dgm:t>
    </dgm:pt>
    <dgm:pt modelId="{6799645E-F42F-43D8-B2EA-A1377D84D0B3}" type="sibTrans" cxnId="{9E6BB655-7FE4-4F8D-B1D2-F885E60B8754}">
      <dgm:prSet/>
      <dgm:spPr/>
      <dgm:t>
        <a:bodyPr/>
        <a:lstStyle/>
        <a:p>
          <a:endParaRPr lang="es-ES"/>
        </a:p>
      </dgm:t>
    </dgm:pt>
    <dgm:pt modelId="{A7F7584C-6CC5-40A2-9566-2842A5DEA97A}">
      <dgm:prSet phldrT="[Text]"/>
      <dgm:spPr/>
      <dgm:t>
        <a:bodyPr/>
        <a:lstStyle/>
        <a:p>
          <a:r>
            <a:rPr lang="es-ES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Principios de UX</a:t>
          </a:r>
        </a:p>
      </dgm:t>
    </dgm:pt>
    <dgm:pt modelId="{581272CD-5908-4C17-8E9B-8BF6DCE43C3E}" type="parTrans" cxnId="{F68422C1-CD34-4DED-AA4B-85EFFF4FE933}">
      <dgm:prSet/>
      <dgm:spPr/>
      <dgm:t>
        <a:bodyPr/>
        <a:lstStyle/>
        <a:p>
          <a:endParaRPr lang="es-ES"/>
        </a:p>
      </dgm:t>
    </dgm:pt>
    <dgm:pt modelId="{C41ED6A4-512C-48AB-901D-671B73446005}" type="sibTrans" cxnId="{F68422C1-CD34-4DED-AA4B-85EFFF4FE933}">
      <dgm:prSet/>
      <dgm:spPr/>
      <dgm:t>
        <a:bodyPr/>
        <a:lstStyle/>
        <a:p>
          <a:endParaRPr lang="es-ES"/>
        </a:p>
      </dgm:t>
    </dgm:pt>
    <dgm:pt modelId="{51A6936C-668E-4912-B1B4-BA2D45D3F624}">
      <dgm:prSet phldrT="[Text]"/>
      <dgm:spPr/>
      <dgm:t>
        <a:bodyPr/>
        <a:lstStyle/>
        <a:p>
          <a:r>
            <a:rPr lang="es-MX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Principios </a:t>
          </a:r>
          <a:r>
            <a:rPr lang="es-ES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 UI</a:t>
          </a:r>
          <a:endParaRPr lang="es-MX" noProof="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F7D40F1-9723-47F5-BFD2-340696378D49}" type="parTrans" cxnId="{000FE2BB-9FE6-4965-ADF5-E3E85B644286}">
      <dgm:prSet/>
      <dgm:spPr/>
      <dgm:t>
        <a:bodyPr/>
        <a:lstStyle/>
        <a:p>
          <a:endParaRPr lang="es-ES"/>
        </a:p>
      </dgm:t>
    </dgm:pt>
    <dgm:pt modelId="{E68031D9-E3F9-439E-86FC-2A0A3A3988D0}" type="sibTrans" cxnId="{000FE2BB-9FE6-4965-ADF5-E3E85B644286}">
      <dgm:prSet/>
      <dgm:spPr/>
      <dgm:t>
        <a:bodyPr/>
        <a:lstStyle/>
        <a:p>
          <a:endParaRPr lang="es-ES"/>
        </a:p>
      </dgm:t>
    </dgm:pt>
    <dgm:pt modelId="{928B5CB8-3545-4EE5-8BED-981D3C6157A5}">
      <dgm:prSet phldrT="[Text]"/>
      <dgm:spPr/>
      <dgm:t>
        <a:bodyPr/>
        <a:lstStyle/>
        <a:p>
          <a:r>
            <a:rPr lang="es-ES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El flujo UX/UI en el diseño de software</a:t>
          </a:r>
        </a:p>
      </dgm:t>
    </dgm:pt>
    <dgm:pt modelId="{8452F8D0-82FD-4609-B6BD-446E31563D8A}" type="parTrans" cxnId="{085D3777-7996-4375-B5FB-BFD96D1BF9E4}">
      <dgm:prSet/>
      <dgm:spPr/>
      <dgm:t>
        <a:bodyPr/>
        <a:lstStyle/>
        <a:p>
          <a:endParaRPr lang="es-ES"/>
        </a:p>
      </dgm:t>
    </dgm:pt>
    <dgm:pt modelId="{8EF545BA-8D8A-4813-A428-2F18D76E61FA}" type="sibTrans" cxnId="{085D3777-7996-4375-B5FB-BFD96D1BF9E4}">
      <dgm:prSet/>
      <dgm:spPr/>
      <dgm:t>
        <a:bodyPr/>
        <a:lstStyle/>
        <a:p>
          <a:endParaRPr lang="es-ES"/>
        </a:p>
      </dgm:t>
    </dgm:pt>
    <dgm:pt modelId="{F430718B-1895-4404-A3EC-3B369C0CF7A1}">
      <dgm:prSet phldrT="[Text]"/>
      <dgm:spPr/>
      <dgm:t>
        <a:bodyPr/>
        <a:lstStyle/>
        <a:p>
          <a:r>
            <a:rPr lang="es-ES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Errores comunes</a:t>
          </a:r>
        </a:p>
      </dgm:t>
    </dgm:pt>
    <dgm:pt modelId="{54630432-72E5-44B1-B522-EA0FD45E19D4}" type="parTrans" cxnId="{BE8954B6-B499-4BE7-AFE0-51DDF391F5BA}">
      <dgm:prSet/>
      <dgm:spPr/>
      <dgm:t>
        <a:bodyPr/>
        <a:lstStyle/>
        <a:p>
          <a:endParaRPr lang="es-ES"/>
        </a:p>
      </dgm:t>
    </dgm:pt>
    <dgm:pt modelId="{298C6ED4-693D-401C-9419-FADCCDE47A9E}" type="sibTrans" cxnId="{BE8954B6-B499-4BE7-AFE0-51DDF391F5BA}">
      <dgm:prSet/>
      <dgm:spPr/>
      <dgm:t>
        <a:bodyPr/>
        <a:lstStyle/>
        <a:p>
          <a:endParaRPr lang="es-ES"/>
        </a:p>
      </dgm:t>
    </dgm:pt>
    <dgm:pt modelId="{99FD7F24-5BB9-46E8-BB7C-4B477B73B815}" type="pres">
      <dgm:prSet presAssocID="{81269538-BFC5-48BB-BEA1-D7AF1F385FD5}" presName="Name0" presStyleCnt="0">
        <dgm:presLayoutVars>
          <dgm:dir/>
          <dgm:animLvl val="lvl"/>
          <dgm:resizeHandles val="exact"/>
        </dgm:presLayoutVars>
      </dgm:prSet>
      <dgm:spPr/>
    </dgm:pt>
    <dgm:pt modelId="{BBAB8945-0B00-4547-92CF-AE59FDD0EF39}" type="pres">
      <dgm:prSet presAssocID="{0D51337A-31FA-4717-B2BF-9243F96D2B9B}" presName="linNode" presStyleCnt="0"/>
      <dgm:spPr/>
    </dgm:pt>
    <dgm:pt modelId="{3230722F-B757-4673-BD2F-9D4BAB5CEE8D}" type="pres">
      <dgm:prSet presAssocID="{0D51337A-31FA-4717-B2BF-9243F96D2B9B}" presName="parentText" presStyleLbl="node1" presStyleIdx="0" presStyleCnt="5" custScaleX="277778" custLinFactNeighborX="-80408" custLinFactNeighborY="2916">
        <dgm:presLayoutVars>
          <dgm:chMax val="1"/>
          <dgm:bulletEnabled val="1"/>
        </dgm:presLayoutVars>
      </dgm:prSet>
      <dgm:spPr/>
    </dgm:pt>
    <dgm:pt modelId="{3E4AEBB9-D07D-412D-A9F3-5F50CE85FF20}" type="pres">
      <dgm:prSet presAssocID="{6799645E-F42F-43D8-B2EA-A1377D84D0B3}" presName="sp" presStyleCnt="0"/>
      <dgm:spPr/>
    </dgm:pt>
    <dgm:pt modelId="{C60E4332-AB2E-4201-AF29-E3D9D2CE99DD}" type="pres">
      <dgm:prSet presAssocID="{A7F7584C-6CC5-40A2-9566-2842A5DEA97A}" presName="linNode" presStyleCnt="0"/>
      <dgm:spPr/>
    </dgm:pt>
    <dgm:pt modelId="{8A3FE5E4-2689-4041-B2C5-C63BC276A3EF}" type="pres">
      <dgm:prSet presAssocID="{A7F7584C-6CC5-40A2-9566-2842A5DEA97A}" presName="parentText" presStyleLbl="node1" presStyleIdx="1" presStyleCnt="5" custScaleX="277778" custLinFactNeighborX="-80408" custLinFactNeighborY="3124">
        <dgm:presLayoutVars>
          <dgm:chMax val="1"/>
          <dgm:bulletEnabled val="1"/>
        </dgm:presLayoutVars>
      </dgm:prSet>
      <dgm:spPr/>
    </dgm:pt>
    <dgm:pt modelId="{CF97419B-1653-4404-8A25-A4EB2811914A}" type="pres">
      <dgm:prSet presAssocID="{C41ED6A4-512C-48AB-901D-671B73446005}" presName="sp" presStyleCnt="0"/>
      <dgm:spPr/>
    </dgm:pt>
    <dgm:pt modelId="{74B4E996-D144-43FA-9C7B-5183D295C315}" type="pres">
      <dgm:prSet presAssocID="{51A6936C-668E-4912-B1B4-BA2D45D3F624}" presName="linNode" presStyleCnt="0"/>
      <dgm:spPr/>
    </dgm:pt>
    <dgm:pt modelId="{1C763A21-352A-41D1-A2E2-E305DABA275D}" type="pres">
      <dgm:prSet presAssocID="{51A6936C-668E-4912-B1B4-BA2D45D3F624}" presName="parentText" presStyleLbl="node1" presStyleIdx="2" presStyleCnt="5" custScaleX="277778" custLinFactNeighborX="-80408" custLinFactNeighborY="3124">
        <dgm:presLayoutVars>
          <dgm:chMax val="1"/>
          <dgm:bulletEnabled val="1"/>
        </dgm:presLayoutVars>
      </dgm:prSet>
      <dgm:spPr/>
    </dgm:pt>
    <dgm:pt modelId="{4D3735EA-64D5-44A4-9D60-787BDDA83D1A}" type="pres">
      <dgm:prSet presAssocID="{E68031D9-E3F9-439E-86FC-2A0A3A3988D0}" presName="sp" presStyleCnt="0"/>
      <dgm:spPr/>
    </dgm:pt>
    <dgm:pt modelId="{120DCED0-01FF-429D-8B4B-923E0875F75E}" type="pres">
      <dgm:prSet presAssocID="{928B5CB8-3545-4EE5-8BED-981D3C6157A5}" presName="linNode" presStyleCnt="0"/>
      <dgm:spPr/>
    </dgm:pt>
    <dgm:pt modelId="{B9324B26-5FF5-4FF7-9073-66103CBE8481}" type="pres">
      <dgm:prSet presAssocID="{928B5CB8-3545-4EE5-8BED-981D3C6157A5}" presName="parentText" presStyleLbl="node1" presStyleIdx="3" presStyleCnt="5" custScaleX="277778" custLinFactNeighborX="-80408" custLinFactNeighborY="3124">
        <dgm:presLayoutVars>
          <dgm:chMax val="1"/>
          <dgm:bulletEnabled val="1"/>
        </dgm:presLayoutVars>
      </dgm:prSet>
      <dgm:spPr/>
    </dgm:pt>
    <dgm:pt modelId="{990CC750-A5E3-46D2-B785-E52EC2E3F8A1}" type="pres">
      <dgm:prSet presAssocID="{8EF545BA-8D8A-4813-A428-2F18D76E61FA}" presName="sp" presStyleCnt="0"/>
      <dgm:spPr/>
    </dgm:pt>
    <dgm:pt modelId="{5BEF81F7-30D6-4600-94E1-486CAF65A6F7}" type="pres">
      <dgm:prSet presAssocID="{F430718B-1895-4404-A3EC-3B369C0CF7A1}" presName="linNode" presStyleCnt="0"/>
      <dgm:spPr/>
    </dgm:pt>
    <dgm:pt modelId="{1B64AC48-D6FE-4021-9546-98DF4F5E3F94}" type="pres">
      <dgm:prSet presAssocID="{F430718B-1895-4404-A3EC-3B369C0CF7A1}" presName="parentText" presStyleLbl="node1" presStyleIdx="4" presStyleCnt="5" custScaleX="277778">
        <dgm:presLayoutVars>
          <dgm:chMax val="1"/>
          <dgm:bulletEnabled val="1"/>
        </dgm:presLayoutVars>
      </dgm:prSet>
      <dgm:spPr/>
    </dgm:pt>
  </dgm:ptLst>
  <dgm:cxnLst>
    <dgm:cxn modelId="{A38C1039-CB78-4EBF-844F-7A838983E228}" type="presOf" srcId="{A7F7584C-6CC5-40A2-9566-2842A5DEA97A}" destId="{8A3FE5E4-2689-4041-B2C5-C63BC276A3EF}" srcOrd="0" destOrd="0" presId="urn:microsoft.com/office/officeart/2005/8/layout/vList5"/>
    <dgm:cxn modelId="{D51B6075-27E4-4292-9F89-0CC50DF21ED9}" type="presOf" srcId="{51A6936C-668E-4912-B1B4-BA2D45D3F624}" destId="{1C763A21-352A-41D1-A2E2-E305DABA275D}" srcOrd="0" destOrd="0" presId="urn:microsoft.com/office/officeart/2005/8/layout/vList5"/>
    <dgm:cxn modelId="{9E6BB655-7FE4-4F8D-B1D2-F885E60B8754}" srcId="{81269538-BFC5-48BB-BEA1-D7AF1F385FD5}" destId="{0D51337A-31FA-4717-B2BF-9243F96D2B9B}" srcOrd="0" destOrd="0" parTransId="{A9294D65-F371-46C8-A624-E557E9DF1A30}" sibTransId="{6799645E-F42F-43D8-B2EA-A1377D84D0B3}"/>
    <dgm:cxn modelId="{085D3777-7996-4375-B5FB-BFD96D1BF9E4}" srcId="{81269538-BFC5-48BB-BEA1-D7AF1F385FD5}" destId="{928B5CB8-3545-4EE5-8BED-981D3C6157A5}" srcOrd="3" destOrd="0" parTransId="{8452F8D0-82FD-4609-B6BD-446E31563D8A}" sibTransId="{8EF545BA-8D8A-4813-A428-2F18D76E61FA}"/>
    <dgm:cxn modelId="{53988784-A0E1-4D82-B36B-740DE83EB0C9}" type="presOf" srcId="{81269538-BFC5-48BB-BEA1-D7AF1F385FD5}" destId="{99FD7F24-5BB9-46E8-BB7C-4B477B73B815}" srcOrd="0" destOrd="0" presId="urn:microsoft.com/office/officeart/2005/8/layout/vList5"/>
    <dgm:cxn modelId="{BE8954B6-B499-4BE7-AFE0-51DDF391F5BA}" srcId="{81269538-BFC5-48BB-BEA1-D7AF1F385FD5}" destId="{F430718B-1895-4404-A3EC-3B369C0CF7A1}" srcOrd="4" destOrd="0" parTransId="{54630432-72E5-44B1-B522-EA0FD45E19D4}" sibTransId="{298C6ED4-693D-401C-9419-FADCCDE47A9E}"/>
    <dgm:cxn modelId="{00FFA9BA-BB19-4DC9-80E5-75B6767544CA}" type="presOf" srcId="{F430718B-1895-4404-A3EC-3B369C0CF7A1}" destId="{1B64AC48-D6FE-4021-9546-98DF4F5E3F94}" srcOrd="0" destOrd="0" presId="urn:microsoft.com/office/officeart/2005/8/layout/vList5"/>
    <dgm:cxn modelId="{000FE2BB-9FE6-4965-ADF5-E3E85B644286}" srcId="{81269538-BFC5-48BB-BEA1-D7AF1F385FD5}" destId="{51A6936C-668E-4912-B1B4-BA2D45D3F624}" srcOrd="2" destOrd="0" parTransId="{8F7D40F1-9723-47F5-BFD2-340696378D49}" sibTransId="{E68031D9-E3F9-439E-86FC-2A0A3A3988D0}"/>
    <dgm:cxn modelId="{F68422C1-CD34-4DED-AA4B-85EFFF4FE933}" srcId="{81269538-BFC5-48BB-BEA1-D7AF1F385FD5}" destId="{A7F7584C-6CC5-40A2-9566-2842A5DEA97A}" srcOrd="1" destOrd="0" parTransId="{581272CD-5908-4C17-8E9B-8BF6DCE43C3E}" sibTransId="{C41ED6A4-512C-48AB-901D-671B73446005}"/>
    <dgm:cxn modelId="{02B1C3C3-F2D2-4C80-8962-E0C9B39A6EF4}" type="presOf" srcId="{0D51337A-31FA-4717-B2BF-9243F96D2B9B}" destId="{3230722F-B757-4673-BD2F-9D4BAB5CEE8D}" srcOrd="0" destOrd="0" presId="urn:microsoft.com/office/officeart/2005/8/layout/vList5"/>
    <dgm:cxn modelId="{A44DF6E5-2150-478D-AAB9-24BC6742BCEE}" type="presOf" srcId="{928B5CB8-3545-4EE5-8BED-981D3C6157A5}" destId="{B9324B26-5FF5-4FF7-9073-66103CBE8481}" srcOrd="0" destOrd="0" presId="urn:microsoft.com/office/officeart/2005/8/layout/vList5"/>
    <dgm:cxn modelId="{45435F90-22A5-4C03-B101-FD4577E8A794}" type="presParOf" srcId="{99FD7F24-5BB9-46E8-BB7C-4B477B73B815}" destId="{BBAB8945-0B00-4547-92CF-AE59FDD0EF39}" srcOrd="0" destOrd="0" presId="urn:microsoft.com/office/officeart/2005/8/layout/vList5"/>
    <dgm:cxn modelId="{B399DCC2-FF40-4D75-A2A7-A495D4AF2387}" type="presParOf" srcId="{BBAB8945-0B00-4547-92CF-AE59FDD0EF39}" destId="{3230722F-B757-4673-BD2F-9D4BAB5CEE8D}" srcOrd="0" destOrd="0" presId="urn:microsoft.com/office/officeart/2005/8/layout/vList5"/>
    <dgm:cxn modelId="{26C2F444-58E5-4B3C-A169-EBC64ABE0EE9}" type="presParOf" srcId="{99FD7F24-5BB9-46E8-BB7C-4B477B73B815}" destId="{3E4AEBB9-D07D-412D-A9F3-5F50CE85FF20}" srcOrd="1" destOrd="0" presId="urn:microsoft.com/office/officeart/2005/8/layout/vList5"/>
    <dgm:cxn modelId="{FB2D3183-70C6-44DD-875A-CC09A2C89FEB}" type="presParOf" srcId="{99FD7F24-5BB9-46E8-BB7C-4B477B73B815}" destId="{C60E4332-AB2E-4201-AF29-E3D9D2CE99DD}" srcOrd="2" destOrd="0" presId="urn:microsoft.com/office/officeart/2005/8/layout/vList5"/>
    <dgm:cxn modelId="{B9D84324-BE5B-4514-8201-6B25BE814C19}" type="presParOf" srcId="{C60E4332-AB2E-4201-AF29-E3D9D2CE99DD}" destId="{8A3FE5E4-2689-4041-B2C5-C63BC276A3EF}" srcOrd="0" destOrd="0" presId="urn:microsoft.com/office/officeart/2005/8/layout/vList5"/>
    <dgm:cxn modelId="{902C8576-A8E1-4C1E-B647-4F0EFC878EDE}" type="presParOf" srcId="{99FD7F24-5BB9-46E8-BB7C-4B477B73B815}" destId="{CF97419B-1653-4404-8A25-A4EB2811914A}" srcOrd="3" destOrd="0" presId="urn:microsoft.com/office/officeart/2005/8/layout/vList5"/>
    <dgm:cxn modelId="{C0AE58B2-3BCF-4A17-9962-82AF5DB00A66}" type="presParOf" srcId="{99FD7F24-5BB9-46E8-BB7C-4B477B73B815}" destId="{74B4E996-D144-43FA-9C7B-5183D295C315}" srcOrd="4" destOrd="0" presId="urn:microsoft.com/office/officeart/2005/8/layout/vList5"/>
    <dgm:cxn modelId="{CC23B1CA-2592-479D-988C-BB870D7E9EC9}" type="presParOf" srcId="{74B4E996-D144-43FA-9C7B-5183D295C315}" destId="{1C763A21-352A-41D1-A2E2-E305DABA275D}" srcOrd="0" destOrd="0" presId="urn:microsoft.com/office/officeart/2005/8/layout/vList5"/>
    <dgm:cxn modelId="{933347A6-BCAF-495A-96A7-208A97A1751A}" type="presParOf" srcId="{99FD7F24-5BB9-46E8-BB7C-4B477B73B815}" destId="{4D3735EA-64D5-44A4-9D60-787BDDA83D1A}" srcOrd="5" destOrd="0" presId="urn:microsoft.com/office/officeart/2005/8/layout/vList5"/>
    <dgm:cxn modelId="{677D4939-AE22-4645-A75D-BD07DA38E78F}" type="presParOf" srcId="{99FD7F24-5BB9-46E8-BB7C-4B477B73B815}" destId="{120DCED0-01FF-429D-8B4B-923E0875F75E}" srcOrd="6" destOrd="0" presId="urn:microsoft.com/office/officeart/2005/8/layout/vList5"/>
    <dgm:cxn modelId="{AF6385C2-1319-4602-9D19-9A89E6EBF57F}" type="presParOf" srcId="{120DCED0-01FF-429D-8B4B-923E0875F75E}" destId="{B9324B26-5FF5-4FF7-9073-66103CBE8481}" srcOrd="0" destOrd="0" presId="urn:microsoft.com/office/officeart/2005/8/layout/vList5"/>
    <dgm:cxn modelId="{497DFFAF-0767-4D9C-A409-31FCB9BA7908}" type="presParOf" srcId="{99FD7F24-5BB9-46E8-BB7C-4B477B73B815}" destId="{990CC750-A5E3-46D2-B785-E52EC2E3F8A1}" srcOrd="7" destOrd="0" presId="urn:microsoft.com/office/officeart/2005/8/layout/vList5"/>
    <dgm:cxn modelId="{1E19A757-1EBF-4D95-9C6D-BB087FCE7611}" type="presParOf" srcId="{99FD7F24-5BB9-46E8-BB7C-4B477B73B815}" destId="{5BEF81F7-30D6-4600-94E1-486CAF65A6F7}" srcOrd="8" destOrd="0" presId="urn:microsoft.com/office/officeart/2005/8/layout/vList5"/>
    <dgm:cxn modelId="{79BA32DA-0C77-45E4-95C4-3120876C22BD}" type="presParOf" srcId="{5BEF81F7-30D6-4600-94E1-486CAF65A6F7}" destId="{1B64AC48-D6FE-4021-9546-98DF4F5E3F9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30722F-B757-4673-BD2F-9D4BAB5CEE8D}">
      <dsp:nvSpPr>
        <dsp:cNvPr id="0" name=""/>
        <dsp:cNvSpPr/>
      </dsp:nvSpPr>
      <dsp:spPr>
        <a:xfrm>
          <a:off x="0" y="21399"/>
          <a:ext cx="4039199" cy="6804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Por qué importa UX/UI</a:t>
          </a:r>
        </a:p>
      </dsp:txBody>
      <dsp:txXfrm>
        <a:off x="33219" y="54618"/>
        <a:ext cx="3972761" cy="614061"/>
      </dsp:txXfrm>
    </dsp:sp>
    <dsp:sp modelId="{8A3FE5E4-2689-4041-B2C5-C63BC276A3EF}">
      <dsp:nvSpPr>
        <dsp:cNvPr id="0" name=""/>
        <dsp:cNvSpPr/>
      </dsp:nvSpPr>
      <dsp:spPr>
        <a:xfrm>
          <a:off x="0" y="737340"/>
          <a:ext cx="4039199" cy="6804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Principios de UX</a:t>
          </a:r>
        </a:p>
      </dsp:txBody>
      <dsp:txXfrm>
        <a:off x="33219" y="770559"/>
        <a:ext cx="3972761" cy="614061"/>
      </dsp:txXfrm>
    </dsp:sp>
    <dsp:sp modelId="{1C763A21-352A-41D1-A2E2-E305DABA275D}">
      <dsp:nvSpPr>
        <dsp:cNvPr id="0" name=""/>
        <dsp:cNvSpPr/>
      </dsp:nvSpPr>
      <dsp:spPr>
        <a:xfrm>
          <a:off x="0" y="1451864"/>
          <a:ext cx="4039199" cy="6804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Principios </a:t>
          </a:r>
          <a:r>
            <a:rPr lang="es-ES" sz="1900" kern="12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 UI</a:t>
          </a:r>
          <a:endParaRPr lang="es-MX" sz="1900" kern="1200" noProof="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3219" y="1485083"/>
        <a:ext cx="3972761" cy="614061"/>
      </dsp:txXfrm>
    </dsp:sp>
    <dsp:sp modelId="{B9324B26-5FF5-4FF7-9073-66103CBE8481}">
      <dsp:nvSpPr>
        <dsp:cNvPr id="0" name=""/>
        <dsp:cNvSpPr/>
      </dsp:nvSpPr>
      <dsp:spPr>
        <a:xfrm>
          <a:off x="0" y="2166389"/>
          <a:ext cx="4039199" cy="6804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El flujo UX/UI en el diseño de software</a:t>
          </a:r>
        </a:p>
      </dsp:txBody>
      <dsp:txXfrm>
        <a:off x="33219" y="2199608"/>
        <a:ext cx="3972761" cy="614061"/>
      </dsp:txXfrm>
    </dsp:sp>
    <dsp:sp modelId="{1B64AC48-D6FE-4021-9546-98DF4F5E3F94}">
      <dsp:nvSpPr>
        <dsp:cNvPr id="0" name=""/>
        <dsp:cNvSpPr/>
      </dsp:nvSpPr>
      <dsp:spPr>
        <a:xfrm>
          <a:off x="1972" y="2859655"/>
          <a:ext cx="4039199" cy="6804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 noProof="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Errores comunes</a:t>
          </a:r>
        </a:p>
      </dsp:txBody>
      <dsp:txXfrm>
        <a:off x="35191" y="2892874"/>
        <a:ext cx="3972761" cy="6140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Ley de Hick</a:t>
            </a:r>
            <a:r>
              <a:rPr lang="es-ES" dirty="0"/>
              <a:t> 🕒</a:t>
            </a:r>
            <a:br>
              <a:rPr lang="es-ES" dirty="0"/>
            </a:br>
            <a:r>
              <a:rPr lang="es-ES" i="1" dirty="0"/>
              <a:t>Cuantas más opciones ofreces, más tardan los usuarios en decidir; conviene mantener la simplicidad.</a:t>
            </a:r>
            <a:r>
              <a:rPr lang="es-ES" dirty="0"/>
              <a:t> </a:t>
            </a:r>
          </a:p>
          <a:p>
            <a:r>
              <a:rPr lang="es-ES" b="1" dirty="0"/>
              <a:t>Principios de Gestalt</a:t>
            </a:r>
            <a:r>
              <a:rPr lang="es-ES" dirty="0"/>
              <a:t> 🔍</a:t>
            </a:r>
            <a:br>
              <a:rPr lang="es-ES" dirty="0"/>
            </a:br>
            <a:r>
              <a:rPr lang="es-ES" i="1" dirty="0"/>
              <a:t>Los usuarios agrupan e interpretan los elementos como un todo, no solo como partes separadas.</a:t>
            </a:r>
            <a:endParaRPr lang="es-ES" dirty="0"/>
          </a:p>
          <a:p>
            <a:r>
              <a:rPr lang="es-ES" b="1" dirty="0"/>
              <a:t>Ley de Fitts</a:t>
            </a:r>
            <a:r>
              <a:rPr lang="es-ES" dirty="0"/>
              <a:t> 🎯</a:t>
            </a:r>
            <a:br>
              <a:rPr lang="es-ES" dirty="0"/>
            </a:br>
            <a:r>
              <a:rPr lang="es-ES" i="1" dirty="0"/>
              <a:t>Cuanto más grande y cercano es un objetivo, más rápido y fácil resulta alcanzarlo.</a:t>
            </a:r>
            <a:endParaRPr lang="es-ES" dirty="0"/>
          </a:p>
          <a:p>
            <a:r>
              <a:rPr lang="es-ES" b="1" dirty="0"/>
              <a:t>Ley de Jakob</a:t>
            </a:r>
            <a:r>
              <a:rPr lang="es-ES" dirty="0"/>
              <a:t> 📚</a:t>
            </a:r>
            <a:br>
              <a:rPr lang="es-ES" dirty="0"/>
            </a:br>
            <a:r>
              <a:rPr lang="es-ES" i="1" dirty="0"/>
              <a:t>Los usuarios esperan que tu diseño funcione como los sitios y las apps que ya conocen.</a:t>
            </a:r>
            <a:endParaRPr lang="es-ES" dirty="0"/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55648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Happiness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Engagement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Adoption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Retention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lv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 Success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701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«La mayoría de los fallos de diseño no se deben a la falta de creatividad, sino a saltarse los fundamentos.»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s-ES" smtClean="0"/>
              <a:t>17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84649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rotWithShape="1">
          <a:gsLst>
            <a:gs pos="0">
              <a:srgbClr val="0B2A47"/>
            </a:gs>
            <a:gs pos="55000">
              <a:srgbClr val="123E63"/>
            </a:gs>
            <a:gs pos="100000">
              <a:srgbClr val="256FA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CFE6F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Accent"/>
          <p:cNvSpPr/>
          <p:nvPr/>
        </p:nvSpPr>
        <p:spPr>
          <a:xfrm>
            <a:off x="5461000" y="3545000"/>
            <a:ext cx="1270000" cy="45720"/>
          </a:xfrm>
          <a:prstGeom prst="roundRect">
            <a:avLst>
              <a:gd name="adj" fmla="val 50000"/>
            </a:avLst>
          </a:prstGeom>
          <a:solidFill>
            <a:srgbClr val="54B4E4"/>
          </a:solidFill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7217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ide Accent Bar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gradFill>
            <a:gsLst>
              <a:gs pos="0">
                <a:srgbClr val="0E3A5F"/>
              </a:gs>
              <a:gs pos="100000">
                <a:srgbClr val="54B4E4"/>
              </a:gs>
            </a:gsLst>
            <a:lin ang="5400000" scaled="1"/>
          </a:gradFill>
        </p:spPr>
        <p:txBody>
          <a:bodyPr/>
          <a:lstStyle/>
          <a:p>
            <a:endParaRPr lang="es-ES"/>
          </a:p>
        </p:txBody>
      </p:sp>
      <p:sp>
        <p:nvSpPr>
          <p:cNvPr id="11" name="Title Accent Rule"/>
          <p:cNvSpPr/>
          <p:nvPr/>
        </p:nvSpPr>
        <p:spPr>
          <a:xfrm>
            <a:off x="838200" y="1712000"/>
            <a:ext cx="1600200" cy="45720"/>
          </a:xfrm>
          <a:prstGeom prst="roundRect">
            <a:avLst>
              <a:gd name="adj" fmla="val 50000"/>
            </a:avLst>
          </a:prstGeom>
          <a:solidFill>
            <a:srgbClr val="54B4E4"/>
          </a:solidFill>
        </p:spPr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37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135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916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60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445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707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66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13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43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90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29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5400" noProof="0" dirty="0">
                <a:latin typeface="Rockwell" panose="02060603020205020403" pitchFamily="18" charset="0"/>
              </a:rPr>
              <a:t>Diseño de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s-MX" sz="24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Ing. Jonathan </a:t>
            </a:r>
            <a:r>
              <a:rPr lang="es-MX" sz="2400" noProof="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Solís</a:t>
            </a:r>
            <a:r>
              <a:rPr lang="es-MX" sz="2400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s-MX" sz="2400" noProof="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Parajeles</a:t>
            </a:r>
            <a:endParaRPr lang="es-MX" sz="24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s-MX" sz="2400" noProof="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ITCR</a:t>
            </a:r>
            <a:endParaRPr lang="es-MX" sz="2400" noProof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dirty="0"/>
              <a:t>Diseñando experiencias que funcionan</a:t>
            </a:r>
            <a:endParaRPr lang="es-MX" sz="4400" noProof="0" dirty="0">
              <a:latin typeface="Rockwell" panose="02060603020205020403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4F1745-A55E-4835-88EB-BC637121B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3742253"/>
              </p:ext>
            </p:extLst>
          </p:nvPr>
        </p:nvGraphicFramePr>
        <p:xfrm>
          <a:off x="1141413" y="2249488"/>
          <a:ext cx="4043145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Mockplus - Free, Online UX Design Tool For Beginners">
            <a:extLst>
              <a:ext uri="{FF2B5EF4-FFF2-40B4-BE49-F238E27FC236}">
                <a16:creationId xmlns:a16="http://schemas.microsoft.com/office/drawing/2014/main" id="{240DCECC-104E-D123-AB4D-659E726FE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409" y="2249488"/>
            <a:ext cx="5410949" cy="354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400" dirty="0" err="1">
                <a:latin typeface="Rockwell" panose="02060603020205020403" pitchFamily="18" charset="0"/>
              </a:rPr>
              <a:t>Por qué</a:t>
            </a:r>
            <a:r>
              <a:rPr lang="es-MX" sz="4400" dirty="0">
                <a:latin typeface="Rockwell" panose="02060603020205020403" pitchFamily="18" charset="0"/>
              </a:rPr>
              <a:t> </a:t>
            </a:r>
            <a:r>
              <a:rPr lang="es-MX" dirty="0">
                <a:latin typeface="Rockwell" panose="02060603020205020403" pitchFamily="18" charset="0"/>
              </a:rPr>
              <a:t>importa </a:t>
            </a:r>
            <a:r>
              <a:rPr lang="es-MX" sz="4400" dirty="0" err="1">
                <a:latin typeface="Rockwell" panose="02060603020205020403" pitchFamily="18" charset="0"/>
              </a:rPr>
              <a:t>UX/UI</a:t>
            </a:r>
            <a:endParaRPr lang="es-MX" sz="4400" noProof="0" dirty="0">
              <a:latin typeface="Rockwell" panose="02060603020205020403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D686FF-FF4E-8A88-E5AA-CB34274FF0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360201"/>
            <a:ext cx="501274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88 % de los usuarios no vuelve tras una mala experiencia.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buen diseño mejora la interacción, las conversiones y la fidelidad.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UX/UI puede ser tu mayor ventaja competitiva.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A263E9-3024-741B-B0E5-3D9746F2B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153" y="2097088"/>
            <a:ext cx="5391902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UX vs. UI: ¿en qué se diferencian?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UX (Experiencia de Usuario):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cómo se siente y funciona el producto; investigación, estructura y flujo.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UI (Interfaz de Usuario):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cómo se ve y se presenta; color, tipografía, iconografía y componentes.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Se complementan: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una UI atractiva con mala UX frustra; una buena UX con UI descuidada pierde credibilidad.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Roles cercanos: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diseño de interacción (IxD), investigación, diseño de producto y de servicios.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3998F9-22D6-C1B3-8B93-07FA31CBAF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0469" y="1825625"/>
            <a:ext cx="64110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478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El proceso: Design Thinking y Double Diamond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Design Thinking: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Empatizar → Definir → Idear → Prototipar → Probar.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Double Diamond: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descubrir–definir (el problema correcto) y desarrollar–entregar (la solución correcta).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Divergir y converger: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primero se abren muchas ideas y luego se enfocan.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Iterativo, no lineal: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se regresa a fases anteriores según lo aprendido.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Centrado en el usuario: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cada decisión se valida con personas reales, no con suposiciones.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Double Diamond Design Process | Splunk">
            <a:extLst>
              <a:ext uri="{FF2B5EF4-FFF2-40B4-BE49-F238E27FC236}">
                <a16:creationId xmlns:a16="http://schemas.microsoft.com/office/drawing/2014/main" id="{BF78F50A-758F-739B-7ADF-7F4312F52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58140"/>
            <a:ext cx="9144000" cy="514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645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Investigación de usuarios: métodos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Cualitativa (el porqué):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entrevistas, observación contextual y pruebas de usabilidad; pocos usuarios, mucha profundidad.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Cuantitativa (el cuánto):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encuestas, analítica y A/B testing; muchos datos y patrones medibles.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Organizar la información: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card sorting y árboles de contenido para la arquitectura</a:t>
            </a:r>
            <a:r>
              <a:rPr lang="es-ES" sz="1800" dirty="0">
                <a:latin typeface="Arial" panose="020B0604020202020204" pitchFamily="34" charset="0"/>
              </a:rPr>
              <a:t>.</a:t>
            </a:r>
            <a:endParaRPr lang="es-ES" sz="18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097F0-534C-DAC8-8D28-FA340D7EF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446A1-8915-65F5-B39C-0BFA53829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E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Principios de UX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7EC7ECC-FB38-EE49-E15B-E523198842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627562"/>
            <a:ext cx="4296861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Claridad:</a:t>
            </a: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Los usuarios entienden de inmediato qué hacer.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Consistencia:</a:t>
            </a: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Los patrones predecibles generan confianza.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Accesibilidad:</a:t>
            </a: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diseño inclusivo funciona para todas las personas.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ES" altLang="en-US" sz="1800" b="1" dirty="0">
                <a:latin typeface="Arial" panose="020B0604020202020204" pitchFamily="34" charset="0"/>
              </a:rPr>
              <a:t>Relación</a:t>
            </a:r>
            <a:r>
              <a:rPr kumimoji="0" lang="es-E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el mundo real:</a:t>
            </a: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Las interfaces reflejan cómo piensan las personas.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7D8E84-10C4-51C1-7AA0-943DCC072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274" y="1668253"/>
            <a:ext cx="6260431" cy="352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718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Las 10 heurísticas de usabilidad de Nielsen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1. Visibilidad del estado del sistema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2. Relación con el mundo real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3. Control y libertad del usuario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4. Consistencia y estándares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5. Prevención de errores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6. Reconocer mejor que recordar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7. Flexibilidad y eficiencia de uso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8. Diseño estético y minimalista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9. Recuperación ante los errores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10. Ayuda y documentación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95308-A952-8B09-3272-322CB02C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087C2-19F1-2252-8628-623FC21C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MX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Principios </a:t>
            </a:r>
            <a:r>
              <a:rPr lang="es-E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UI</a:t>
            </a:r>
            <a:endParaRPr lang="es-MX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6451ACA-D1A9-1AEE-3ABF-7C2DFDC48D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750" y="2413337"/>
            <a:ext cx="599715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jerarquía visual guía la atención.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retroalimentación muestra la respuesta del sistema.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Coherencia con la identidad de marca.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Los diseños adaptables se ajustan a cada dispositivo.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949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Fundamentos visuales: tipografía, color y </a:t>
            </a:r>
            <a:r>
              <a:rPr lang="es-ES" dirty="0" err="1"/>
              <a:t>layout</a:t>
            </a: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Tipografía: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jerarquía con tamaño y peso; usa 1–2 familias; cuida la legibilidad y el interlineado.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Color: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paleta con propósito (primario, secundarios y neutros); el color guía, no solo decora.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Contraste: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asegura suficiente contraste entre el texto y el fondo.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Layout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y espaciado: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los grids y el espaciado consistente (múltiplos de 4 u 8 px) crean orden y ritmo.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Sistemas de diseño y componentes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Qué es: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una biblioteca compartida de componentes, patrones y reglas reutilizables.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Diseño atómico: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átomos → moléculas → organismos → plantillas → páginas.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Tokens de diseño: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color, tipografía y espaciado definidos como variables únicas.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Referencias: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Material Design (Google) y Human Interface Guidelines (Apple).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Beneficio: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consistencia, velocidad y una entrega a desarrollo más fluida.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533AA-567B-F40C-1948-1A197B908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814C7-4986-6C99-6110-4E7444843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E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 flujo de trabajo UX/UI en el diseño de software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4EED300-259A-B531-6365-AA2D368538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85632"/>
            <a:ext cx="512191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Investigación y perfiles de usuario (personas).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Wireframes y prototipos.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Pruebas de usabilidad e iteración.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Entrega del diseño al equipo de desarrollo.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152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De wireframe a mockup a prototipo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Wireframe (baja fidelidad):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estructura y jerarquía, sin color ni estilo.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Mockup (alta fidelidad):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el diseño visual final, pero estático.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Prototipo (interactivo):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simula el comportamiento y los flujos reales para poder probarlos.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Regla: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aumenta la fidelidad solo cuando la idea ya está validada.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Pruebas de usabilidad y métricas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Pruebas: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moderadas o no moderadas; con 5 usuarios se detecta la mayoría de los problemas.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A/B testing: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compara dos versiones con datos reales de uso.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Métricas de tarea: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tasa de éxito, tiempo en la tarea y número de errores.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Frameworks: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SUS (System Usability Scale) y HEART de Google.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E0F7E-7DAB-E9C5-D3CE-83191F1A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33A1-035F-2FA0-8E27-E9DC0321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ES" sz="4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Errores comunes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8B1EC3B0-BEA5-0622-F702-2E89D3F8A6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6163"/>
            <a:ext cx="37465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Complicar en exceso la interfaz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Inconsistencia entre pantallas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Descuidar la accesibilidad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Omitir las pruebas de usabilidad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85" name="Picture 13" descr="Common Web Designing Pitfalls and How to Avoid Them – INSYDS//">
            <a:extLst>
              <a:ext uri="{FF2B5EF4-FFF2-40B4-BE49-F238E27FC236}">
                <a16:creationId xmlns:a16="http://schemas.microsoft.com/office/drawing/2014/main" id="{E5E2951A-5292-8399-0A53-AA8523D35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38250"/>
            <a:ext cx="515620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909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Ética y patrones oscuros (dark patterns)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Patrones oscuros: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diseños que engañan o presionan al usuario para que actúe en su contra.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Ejemplos: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cancelaciones difíciles, casillas premarcadas, urgencia falsa y costos ocultos.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Persuasión ética: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influir sin manipular y respetar la autonomía del usuario.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Privacidad e inclusión: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pide solo los datos necesarios y diseña para la diversidad.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Figma for Your Design Portfolio, Part 2: Building Your Portfolio in Figma">
            <a:extLst>
              <a:ext uri="{FF2B5EF4-FFF2-40B4-BE49-F238E27FC236}">
                <a16:creationId xmlns:a16="http://schemas.microsoft.com/office/drawing/2014/main" id="{6A45FF3F-A099-A921-D4B6-DE5DCAF3F7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7172" name="Picture 4" descr="Figma for Your Design Portfolio, Part 2: Building Your Portfolio in Figma">
            <a:extLst>
              <a:ext uri="{FF2B5EF4-FFF2-40B4-BE49-F238E27FC236}">
                <a16:creationId xmlns:a16="http://schemas.microsoft.com/office/drawing/2014/main" id="{12E10AD7-5A18-D2ED-0068-1D93268D7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6531" y="1892473"/>
            <a:ext cx="3894137" cy="2768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290F67F-0588-8963-F285-FD76C5F60700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Figma</a:t>
            </a:r>
          </a:p>
        </p:txBody>
      </p:sp>
    </p:spTree>
    <p:extLst>
      <p:ext uri="{BB962C8B-B14F-4D97-AF65-F5344CB8AC3E}">
        <p14:creationId xmlns:p14="http://schemas.microsoft.com/office/powerpoint/2010/main" val="3516758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7596-0A96-8A61-5851-EEBB6C1A9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Stitch</a:t>
            </a:r>
          </a:p>
        </p:txBody>
      </p:sp>
      <p:sp>
        <p:nvSpPr>
          <p:cNvPr id="4" name="AutoShape 2" descr="Como Usar o Google Stitch para Design de Interface (Mesmo Sem Ser um ...">
            <a:extLst>
              <a:ext uri="{FF2B5EF4-FFF2-40B4-BE49-F238E27FC236}">
                <a16:creationId xmlns:a16="http://schemas.microsoft.com/office/drawing/2014/main" id="{9BE833A4-72A3-960C-7BAE-1808E8FC1B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7" name="AutoShape 8" descr="Como Usar o Google Stitch para Design de Interface (Mesmo Sem Ser um ...">
            <a:extLst>
              <a:ext uri="{FF2B5EF4-FFF2-40B4-BE49-F238E27FC236}">
                <a16:creationId xmlns:a16="http://schemas.microsoft.com/office/drawing/2014/main" id="{B2A08749-0110-0DA9-0AE1-B014208386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8204" name="Picture 12" descr="Google Stitch – 人工智能驱动的UI设计与前端代码生成器 | Online's Tool">
            <a:extLst>
              <a:ext uri="{FF2B5EF4-FFF2-40B4-BE49-F238E27FC236}">
                <a16:creationId xmlns:a16="http://schemas.microsoft.com/office/drawing/2014/main" id="{32A2B516-F3FD-B037-9C45-78C9A2F90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116" y="1819330"/>
            <a:ext cx="5972968" cy="382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6635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70DEE-BAED-0A4E-9454-5424FC73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650DCE-8D40-6DB5-6138-CC22A11EB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999" y="1749522"/>
            <a:ext cx="6342853" cy="413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7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La IA en el diseño UX/UI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Generación de UI: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herramientas como Stitch o Figma AI crean pantallas a partir de texto.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Acelera el flujo: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ideación, variantes, contenido de relleno y prototipos más rápidos.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Investigación asistida: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ayuda a sintetizar entrevistas y a detectar patrones.</a:t>
            </a:r>
          </a:p>
          <a:p>
            <a:pPr marL="285750" indent="-285750">
              <a:lnSpc>
                <a:spcPct val="150000"/>
              </a:lnSpc>
              <a:spcBef>
                <a:spcPct val="600"/>
              </a:spcBef>
              <a:buFont typeface="Arial" panose="020B0604020202020204" pitchFamily="34" charset="0"/>
              <a:buChar char="•"/>
            </a:pP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</a:rPr>
              <a:t>El criterio humano manda:</a:t>
            </a:r>
            <a:r>
              <a:rPr lang="es-ES" sz="1800" b="0" dirty="0">
                <a:solidFill>
                  <a:schemeClr val="tx1"/>
                </a:solidFill>
                <a:latin typeface="Arial" panose="020B0604020202020204" pitchFamily="34" charset="0"/>
              </a:rPr>
              <a:t> la IA propone; el diseñador decide, valida y aporta contexto.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1505-F9DC-AF02-1AE2-CDE3CF56A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Taller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9D62AC-E3B6-B626-FC25-DE4BAB87F4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68045"/>
            <a:ext cx="9331465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Menciona productos tecnológicos que amen (u odien) y por qué</a:t>
            </a:r>
            <a:r>
              <a:rPr lang="es-ES" altLang="en-US" sz="1800" dirty="0">
                <a:latin typeface="Arial" panose="020B0604020202020204" pitchFamily="34" charset="0"/>
              </a:rPr>
              <a:t>. (3)</a:t>
            </a:r>
            <a:endParaRPr kumimoji="0" lang="es-E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Elige un tema </a:t>
            </a:r>
            <a:r>
              <a:rPr kumimoji="0" lang="es-E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</a:t>
            </a: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les llame la atención </a:t>
            </a:r>
            <a:r>
              <a:rPr lang="es-ES" altLang="en-US" sz="1800" dirty="0">
                <a:latin typeface="Arial" panose="020B0604020202020204" pitchFamily="34" charset="0"/>
              </a:rPr>
              <a:t>(app / software) (1)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n-US" sz="1800" dirty="0">
                <a:latin typeface="Arial" panose="020B0604020202020204" pitchFamily="34" charset="0"/>
              </a:rPr>
              <a:t> Investiguen sobre un componente (datos demográficos, puntos de dolor, escenarios) (1)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¡Prototi</a:t>
            </a:r>
            <a:r>
              <a:rPr lang="es-ES" altLang="en-US" sz="1800" dirty="0">
                <a:latin typeface="Arial" panose="020B0604020202020204" pitchFamily="34" charset="0"/>
              </a:rPr>
              <a:t>pen</a:t>
            </a:r>
            <a:r>
              <a:rPr kumimoji="0" lang="es-E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idea y voten!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👍🏻)</a:t>
            </a:r>
            <a:endParaRPr lang="es-E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n-US" sz="1800" dirty="0">
                <a:latin typeface="Arial" panose="020B0604020202020204" pitchFamily="34" charset="0"/>
              </a:rPr>
              <a:t> Entregar 1 archivo con imágenes o texto respondiendo los puntos de arriba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s-ES" altLang="en-US" sz="1800" dirty="0">
                <a:latin typeface="Arial" panose="020B0604020202020204" pitchFamily="34" charset="0"/>
              </a:rPr>
              <a:t>   y agregar un video o gif de la solución prototipada.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n-US" sz="1800" dirty="0">
                <a:latin typeface="Arial" panose="020B0604020202020204" pitchFamily="34" charset="0"/>
              </a:rPr>
              <a:t> Fecha de entrega:  Jueves 27 Ago.</a:t>
            </a:r>
            <a:endParaRPr kumimoji="0" lang="es-E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AutoShape 4" descr="The meaning and symbolism of the word - «Workshop»">
            <a:extLst>
              <a:ext uri="{FF2B5EF4-FFF2-40B4-BE49-F238E27FC236}">
                <a16:creationId xmlns:a16="http://schemas.microsoft.com/office/drawing/2014/main" id="{E53FEAE3-431B-4E60-ACE5-FCD72963D4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7" name="AutoShape 6" descr="The meaning and symbolism of the word - «Workshop»">
            <a:extLst>
              <a:ext uri="{FF2B5EF4-FFF2-40B4-BE49-F238E27FC236}">
                <a16:creationId xmlns:a16="http://schemas.microsoft.com/office/drawing/2014/main" id="{E0BAADE1-E146-67BE-605A-BFD74A5D9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9" name="AutoShape 8" descr="The meaning and symbolism of the word - «Workshop»">
            <a:extLst>
              <a:ext uri="{FF2B5EF4-FFF2-40B4-BE49-F238E27FC236}">
                <a16:creationId xmlns:a16="http://schemas.microsoft.com/office/drawing/2014/main" id="{D32AE50F-992F-264F-111A-5EDDB78056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0" name="AutoShape 10" descr="The meaning and symbolism of the word - «Workshop»">
            <a:extLst>
              <a:ext uri="{FF2B5EF4-FFF2-40B4-BE49-F238E27FC236}">
                <a16:creationId xmlns:a16="http://schemas.microsoft.com/office/drawing/2014/main" id="{5A67EC96-06C2-6288-281F-56EFBF71D8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1" name="AutoShape 12" descr="The meaning and symbolism of the word - «Workshop»">
            <a:extLst>
              <a:ext uri="{FF2B5EF4-FFF2-40B4-BE49-F238E27FC236}">
                <a16:creationId xmlns:a16="http://schemas.microsoft.com/office/drawing/2014/main" id="{2869818D-7632-3F94-23DF-B5866AB20D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3200" y="388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2" name="AutoShape 14" descr="The meaning and symbolism of the word - «Workshop»">
            <a:extLst>
              <a:ext uri="{FF2B5EF4-FFF2-40B4-BE49-F238E27FC236}">
                <a16:creationId xmlns:a16="http://schemas.microsoft.com/office/drawing/2014/main" id="{03DBBF7B-83DD-F397-7098-D961A5883F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5600" y="4038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86C00F-7E1E-122F-6A2E-309E6A4DD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509" y="152400"/>
            <a:ext cx="4326291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402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0E3A5F"/>
      </a:dk2>
      <a:lt2>
        <a:srgbClr val="E9F2FB"/>
      </a:lt2>
      <a:accent1>
        <a:srgbClr val="2072B8"/>
      </a:accent1>
      <a:accent2>
        <a:srgbClr val="0E4C7E"/>
      </a:accent2>
      <a:accent3>
        <a:srgbClr val="4A9FD4"/>
      </a:accent3>
      <a:accent4>
        <a:srgbClr val="7FC1E6"/>
      </a:accent4>
      <a:accent5>
        <a:srgbClr val="54B4E4"/>
      </a:accent5>
      <a:accent6>
        <a:srgbClr val="16324E"/>
      </a:accent6>
      <a:hlink>
        <a:srgbClr val="1F6FB2"/>
      </a:hlink>
      <a:folHlink>
        <a:srgbClr val="5B7E9C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487</TotalTime>
  <Words>1181</Words>
  <Application>Microsoft Office PowerPoint</Application>
  <PresentationFormat>Widescreen</PresentationFormat>
  <Paragraphs>115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Rockwell</vt:lpstr>
      <vt:lpstr>Tahoma</vt:lpstr>
      <vt:lpstr>Office 2013 - 2022 Theme</vt:lpstr>
      <vt:lpstr>Diseño de software</vt:lpstr>
      <vt:lpstr>Diseñando experiencias que funcionan</vt:lpstr>
      <vt:lpstr>Por qué importa UX/UI</vt:lpstr>
      <vt:lpstr>UX vs. UI: ¿en qué se diferencian?</vt:lpstr>
      <vt:lpstr>PowerPoint Presentation</vt:lpstr>
      <vt:lpstr>El proceso: Design Thinking y Double Diamond</vt:lpstr>
      <vt:lpstr>PowerPoint Presentation</vt:lpstr>
      <vt:lpstr>Investigación de usuarios: métodos</vt:lpstr>
      <vt:lpstr>Principios de UX</vt:lpstr>
      <vt:lpstr>Las 10 heurísticas de usabilidad de Nielsen</vt:lpstr>
      <vt:lpstr>Principios de UI</vt:lpstr>
      <vt:lpstr>Fundamentos visuales: tipografía, color y layout</vt:lpstr>
      <vt:lpstr>Sistemas de diseño y componentes</vt:lpstr>
      <vt:lpstr>El flujo de trabajo UX/UI en el diseño de software</vt:lpstr>
      <vt:lpstr>De wireframe a mockup a prototipo</vt:lpstr>
      <vt:lpstr>Pruebas de usabilidad y métricas</vt:lpstr>
      <vt:lpstr>Errores comunes</vt:lpstr>
      <vt:lpstr>Ética y patrones oscuros (dark patterns)</vt:lpstr>
      <vt:lpstr>PowerPoint Presentation</vt:lpstr>
      <vt:lpstr>Stitch</vt:lpstr>
      <vt:lpstr>Claude Design</vt:lpstr>
      <vt:lpstr>La IA en el diseño UX/UI</vt:lpstr>
      <vt:lpstr>Taller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de Software · UX/UI</dc:title>
  <dc:creator>Jonathan Andres Solis Parajeles</dc:creator>
  <cp:lastModifiedBy>Jonathan Andres Solis Parajeles</cp:lastModifiedBy>
  <cp:revision>3</cp:revision>
  <dcterms:created xsi:type="dcterms:W3CDTF">2025-08-14T04:03:43Z</dcterms:created>
  <dcterms:modified xsi:type="dcterms:W3CDTF">2026-08-20T19:50:47Z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