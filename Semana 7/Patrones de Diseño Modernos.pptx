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5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778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 de patrón (GoF) y sus beneficios.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patrones median entre la arquitectura (Semana 6) y el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partes que documenta todo patrón.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familias GoF con ejemplos de cada 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Creacionales: cómo se instancian los objetos.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Singleton: una sola instancia con punto de acceso global.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Factory Method: las subclases eligen la clase concreta a crear.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Factory: familias de objetos relacionados.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Builder: construcción paso a paso de objetos complejos.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Estructurales: cómo se componen clases y objetos.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Adapter: traduce entre interfaces incompatibles.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Decorator: envuelve un objeto para añadir comportamiento.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Facade: interfaz simple sobre un subsistema complejo.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Composite: estructuras de árbol tratadas de forma uniforme.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Comportamiento: cómo interactúan y se comunican los objetos.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Observer: notificación uno-a-muchos de cambios de estado.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Strategy: algoritmos intercambiables en tiempo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Command: la petición encapsulada como un objeto.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State: el comportamiento cambia con el estado interno.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Patrones modernos presentes en frameworks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en detalle, con ejemplo estilo NestJS.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Repository: las capas de la budget-api (Semana 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Anti-patrones y el patrón que los corrige.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Criterio: cuándo sí y cuándo no; evitar la sobre-ingeniería.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Taller práctico de refactorización.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Recursos y créditos de los diagramas.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0E4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24160" y="3291840"/>
            <a:ext cx="4206240" cy="4206240"/>
          </a:xfrm>
          <a:prstGeom prst="ellipse">
            <a:avLst/>
          </a:prstGeom>
          <a:solidFill>
            <a:srgbClr val="1632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2000"/>
          </a:blip>
          <a:stretch>
            <a:fillRect/>
          </a:stretch>
        </p:blipFill>
        <p:spPr>
          <a:xfrm>
            <a:off x="9646920" y="566928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C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  ·   SEMANA 7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1874520"/>
            <a:ext cx="9692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Patrones de Diseño Modernos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319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7FC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reutilizables para un software flexible y mantenible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932688" y="4709160"/>
            <a:ext cx="3108960" cy="0"/>
          </a:xfrm>
          <a:prstGeom prst="line">
            <a:avLst/>
          </a:prstGeom>
          <a:noFill/>
          <a:ln w="31750">
            <a:solidFill>
              <a:srgbClr val="207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14400" y="4892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Jonathan Solís Parajeles  |  ITCR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¿Qué es un patrón de diseño?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solución general y reutilizable a un problema que aparece una y otra vez en el diseño de software.</a:t>
            </a:r>
            <a:endParaRPr lang="en-US" sz="15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código listo para copiar, sino una plantilla probada de cómo estructurar clases y objetos.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“Design Patterns” del Gang of Four (GoF), 1994.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475488" cy="47548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62" y="4288902"/>
            <a:ext cx="218724" cy="2187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16736" y="4114800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común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16736" y="4434840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Nombrar un diseño para entenderse en el equipo.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4983480"/>
            <a:ext cx="475488" cy="47548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462" y="5111862"/>
            <a:ext cx="218724" cy="2187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16736" y="4937760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probadas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316736" y="5257800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Evitan reinventar y repetir errores conocidos.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5806440"/>
            <a:ext cx="475488" cy="47548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462" y="5934822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16736" y="5760720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mantenible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16736" y="6080760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Diseños flexibles, fáciles de extender y cambiar.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720840" y="1783080"/>
            <a:ext cx="4828032" cy="4434840"/>
          </a:xfrm>
          <a:prstGeom prst="roundRect">
            <a:avLst>
              <a:gd name="adj" fmla="val 2474"/>
            </a:avLst>
          </a:prstGeom>
          <a:solidFill>
            <a:srgbClr val="E9F2FB"/>
          </a:solidFill>
          <a:ln/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2514600"/>
            <a:ext cx="1554480" cy="15544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452360" y="429768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7FC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 txBox="1"/>
          <p:nvPr/>
        </p:nvSpPr>
        <p:spPr>
          <a:xfrm>
            <a:off x="7452360" y="42976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9646920" y="429768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7FC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 txBox="1"/>
          <p:nvPr/>
        </p:nvSpPr>
        <p:spPr>
          <a:xfrm>
            <a:off x="9646920" y="42976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452360" y="516636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7FC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 txBox="1"/>
          <p:nvPr/>
        </p:nvSpPr>
        <p:spPr>
          <a:xfrm>
            <a:off x="7452360" y="51663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9646920" y="516636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7FC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 txBox="1"/>
          <p:nvPr/>
        </p:nvSpPr>
        <p:spPr>
          <a:xfrm>
            <a:off x="9646920" y="51663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PROBLEMA A LA SOLUCIÓN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Niveles de abstracción del diseño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127248" cy="2331720"/>
          </a:xfrm>
          <a:prstGeom prst="roundRect">
            <a:avLst>
              <a:gd name="adj" fmla="val 3137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76200" dist="25400" dir="5400000" algn="bl" rotWithShape="0">
              <a:srgbClr val="1B2A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01952" y="2368296"/>
            <a:ext cx="603504" cy="603504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898" y="2531242"/>
            <a:ext cx="277612" cy="2776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04495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3337560"/>
            <a:ext cx="29077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global del sistema y sus grandes </a:t>
            </a:r>
            <a:r>
              <a:rPr lang="en-US" sz="1050" dirty="0" err="1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r>
              <a:rPr lang="en-US" sz="105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25696" y="2148840"/>
            <a:ext cx="3127248" cy="2331720"/>
          </a:xfrm>
          <a:prstGeom prst="roundRect">
            <a:avLst>
              <a:gd name="adj" fmla="val 3137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76200" dist="25400" dir="5400000" algn="bl" rotWithShape="0">
              <a:srgbClr val="1B2A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87568" y="2368296"/>
            <a:ext cx="603504" cy="603504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514" y="2531242"/>
            <a:ext cx="277612" cy="2776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17136" y="304495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diseño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535424" y="3337560"/>
            <a:ext cx="29077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a nivel de clases y módulos. El puente entre ambos.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11312" y="2148840"/>
            <a:ext cx="3127248" cy="2331720"/>
          </a:xfrm>
          <a:prstGeom prst="roundRect">
            <a:avLst>
              <a:gd name="adj" fmla="val 3137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76200" dist="25400" dir="5400000" algn="bl" rotWithShape="0">
              <a:srgbClr val="1B2A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473184" y="2368296"/>
            <a:ext cx="603504" cy="603504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6130" y="2531242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02752" y="304495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337560"/>
            <a:ext cx="29077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concreto que materializa las decisiones de diseño.</a:t>
            </a:r>
            <a:endParaRPr lang="en-US" sz="10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5344" y="3113532"/>
            <a:ext cx="402336" cy="402336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3113532"/>
            <a:ext cx="402336" cy="402336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40080" y="4892040"/>
            <a:ext cx="10911535" cy="1234440"/>
          </a:xfrm>
          <a:prstGeom prst="roundRect">
            <a:avLst>
              <a:gd name="adj" fmla="val 7407"/>
            </a:avLst>
          </a:prstGeom>
          <a:solidFill>
            <a:srgbClr val="E9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914400" y="5138928"/>
            <a:ext cx="731520" cy="731520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1910" y="5336438"/>
            <a:ext cx="336499" cy="336499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828800" y="5029200"/>
            <a:ext cx="94484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patrones son el puente entre la arquitectura y el código.  </a:t>
            </a:r>
            <a:r>
              <a:rPr lang="en-US" sz="14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Traducen las decisiones de alto nivel en estructuras concretas, reutilizables y comprobadas.</a:t>
            </a:r>
            <a:endParaRPr lang="en-US" sz="1450" dirty="0"/>
          </a:p>
        </p:txBody>
      </p:sp>
      <p:sp>
        <p:nvSpPr>
          <p:cNvPr id="25" name="Text 17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Anatomía de un patrón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patrón bien documentado responde a cuatro preguntas clave: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11535" cy="896112"/>
          </a:xfrm>
          <a:prstGeom prst="roundRect">
            <a:avLst>
              <a:gd name="adj" fmla="val 8163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" y="2414016"/>
            <a:ext cx="548640" cy="548640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57" y="2562149"/>
            <a:ext cx="252374" cy="25237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240280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069080" y="2240280"/>
            <a:ext cx="729965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término compartido que da vocabulario al equipo para hablar de diseño.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264408"/>
            <a:ext cx="10911535" cy="896112"/>
          </a:xfrm>
          <a:prstGeom prst="roundRect">
            <a:avLst>
              <a:gd name="adj" fmla="val 8163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77824" y="3438144"/>
            <a:ext cx="548640" cy="548640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957" y="3586277"/>
            <a:ext cx="252374" cy="2523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326440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069080" y="3264408"/>
            <a:ext cx="729965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 en el que aparece y las condiciones para aplicarlo.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4288536"/>
            <a:ext cx="10911535" cy="896112"/>
          </a:xfrm>
          <a:prstGeom prst="roundRect">
            <a:avLst>
              <a:gd name="adj" fmla="val 8163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77824" y="4462272"/>
            <a:ext cx="548640" cy="548640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7" y="4610405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4288536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069080" y="4288536"/>
            <a:ext cx="729965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de clases y objetos, sus roles y relaciones.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40080" y="5312664"/>
            <a:ext cx="10911535" cy="896112"/>
          </a:xfrm>
          <a:prstGeom prst="roundRect">
            <a:avLst>
              <a:gd name="adj" fmla="val 8163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77824" y="5486400"/>
            <a:ext cx="548640" cy="548640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957" y="5634533"/>
            <a:ext cx="252374" cy="25237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00200" y="5312664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4069080" y="5312664"/>
            <a:ext cx="729965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beneficios y compromisos (trade-offs) de aplicarlo.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GOF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Tres familias de patrones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3514" cy="4434840"/>
          </a:xfrm>
          <a:prstGeom prst="roundRect">
            <a:avLst>
              <a:gd name="adj" fmla="val 2671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88900" dist="38100" dir="5400000" algn="bl" rotWithShape="0">
              <a:srgbClr val="1B2A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40357" y="2103120"/>
            <a:ext cx="822960" cy="822960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556" y="2325319"/>
            <a:ext cx="378562" cy="3785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081528"/>
            <a:ext cx="3149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Creacionales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3657600"/>
            <a:ext cx="29114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crean los objetos, ocultando la lógica de instanciación.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88720" y="4709160"/>
            <a:ext cx="2326234" cy="0"/>
          </a:xfrm>
          <a:prstGeom prst="line">
            <a:avLst/>
          </a:prstGeom>
          <a:noFill/>
          <a:ln w="12700">
            <a:solidFill>
              <a:srgbClr val="7FC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097280" y="4846320"/>
            <a:ext cx="260055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Method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Factory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4091" y="1783080"/>
            <a:ext cx="3423514" cy="4434840"/>
          </a:xfrm>
          <a:prstGeom prst="roundRect">
            <a:avLst>
              <a:gd name="adj" fmla="val 2671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88900" dist="38100" dir="5400000" algn="bl" rotWithShape="0">
              <a:srgbClr val="1B2A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84368" y="2103120"/>
            <a:ext cx="822960" cy="822960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567" y="2325319"/>
            <a:ext cx="378562" cy="37856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21251" y="3081528"/>
            <a:ext cx="3149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Estructurales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4640123" y="3657600"/>
            <a:ext cx="29114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componen clases y objetos en estructuras más grandes.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932731" y="4709160"/>
            <a:ext cx="2326234" cy="0"/>
          </a:xfrm>
          <a:prstGeom prst="line">
            <a:avLst/>
          </a:prstGeom>
          <a:noFill/>
          <a:ln w="12700">
            <a:solidFill>
              <a:srgbClr val="7FC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4841291" y="4846320"/>
            <a:ext cx="260055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28102" y="1783080"/>
            <a:ext cx="3423514" cy="4434840"/>
          </a:xfrm>
          <a:prstGeom prst="roundRect">
            <a:avLst>
              <a:gd name="adj" fmla="val 2671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88900" dist="38100" dir="5400000" algn="bl" rotWithShape="0">
              <a:srgbClr val="1B2A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9428378" y="2103120"/>
            <a:ext cx="822960" cy="822960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0578" y="2325319"/>
            <a:ext cx="378562" cy="37856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265262" y="3081528"/>
            <a:ext cx="3149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comportamiento</a:t>
            </a:r>
            <a:endParaRPr lang="en-US" sz="1650" dirty="0"/>
          </a:p>
        </p:txBody>
      </p:sp>
      <p:sp>
        <p:nvSpPr>
          <p:cNvPr id="22" name="Text 17"/>
          <p:cNvSpPr txBox="1"/>
          <p:nvPr/>
        </p:nvSpPr>
        <p:spPr>
          <a:xfrm>
            <a:off x="8384134" y="3657600"/>
            <a:ext cx="29114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interactúan y se reparten responsabilidades los objetos.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676742" y="4709160"/>
            <a:ext cx="2326234" cy="0"/>
          </a:xfrm>
          <a:prstGeom prst="line">
            <a:avLst/>
          </a:prstGeom>
          <a:noFill/>
          <a:ln w="12700">
            <a:solidFill>
              <a:srgbClr val="7FC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 txBox="1"/>
          <p:nvPr/>
        </p:nvSpPr>
        <p:spPr>
          <a:xfrm>
            <a:off x="8585302" y="4846320"/>
            <a:ext cx="260055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Patrones creacionales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2888" cy="2212848"/>
          </a:xfrm>
          <a:prstGeom prst="roundRect">
            <a:avLst>
              <a:gd name="adj" fmla="val 3719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88900" dist="38100" dir="5400000" algn="bl" rotWithShape="0">
              <a:srgbClr val="1B2A38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" y="2002536"/>
            <a:ext cx="566928" cy="56692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895" y="2155607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9344" y="2002536"/>
            <a:ext cx="415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624328"/>
            <a:ext cx="47608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una única instancia global compartida en toda la app.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configuración, logger, conexión.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78728" y="1783080"/>
            <a:ext cx="5272888" cy="2212848"/>
          </a:xfrm>
          <a:prstGeom prst="roundRect">
            <a:avLst>
              <a:gd name="adj" fmla="val 3719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88900" dist="38100" dir="5400000" algn="bl" rotWithShape="0">
              <a:srgbClr val="1B2A38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16472" y="2002536"/>
            <a:ext cx="566928" cy="56692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542" y="2155607"/>
            <a:ext cx="260787" cy="2607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47992" y="2002536"/>
            <a:ext cx="415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Method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6534760" y="2624328"/>
            <a:ext cx="47608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 en subclases qué objeto concreto crear.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distintos tipos de reporte o notificación.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272888" cy="2212848"/>
          </a:xfrm>
          <a:prstGeom prst="roundRect">
            <a:avLst>
              <a:gd name="adj" fmla="val 3719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88900" dist="38100" dir="5400000" algn="bl" rotWithShape="0">
              <a:srgbClr val="1B2A38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77824" y="4334256"/>
            <a:ext cx="566928" cy="56692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895" y="4487327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9344" y="4334256"/>
            <a:ext cx="415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Factory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96112" y="4956048"/>
            <a:ext cx="47608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familias de objetos relacionados sin acoplarse a sus clases.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componentes de UI web vs. móvil.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78728" y="4114800"/>
            <a:ext cx="5272888" cy="2212848"/>
          </a:xfrm>
          <a:prstGeom prst="roundRect">
            <a:avLst>
              <a:gd name="adj" fmla="val 3719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88900" dist="38100" dir="5400000" algn="bl" rotWithShape="0">
              <a:srgbClr val="1B2A38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16472" y="4334256"/>
            <a:ext cx="566928" cy="56692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9542" y="4487327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47992" y="4334256"/>
            <a:ext cx="415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6534760" y="4956048"/>
            <a:ext cx="47608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objetos complejos paso a paso.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query builder, formularios dinámicos.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CREACIONAL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Singleton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063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que una clase tenga una única instancia y ofrece un punto de acceso global a ella.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50" b="1" kern="0" spc="15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LEERLO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campo estático guarda la única instancia; el constructor es privado y getInstance() la crea la primera vez o la devuelve.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configuración, logger, conexión.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886200" y="1691640"/>
            <a:ext cx="7665415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7FC1E6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nathan PC\AppData\Local\Temp\claude\C--sp-digital-solutions-design-course\bbf0c303-6bc6-47ab-b572-d435e00a8ccd\scratchpad\refimg\singlet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655" y="1965960"/>
            <a:ext cx="5694505" cy="3840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886200" y="6153912"/>
            <a:ext cx="7665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del diagrama: refactoring.guru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CREACIONAL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Factory Method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063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una interfaz para crear objetos, pero deja que las subclases decidan qué clase concreta instanciar.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50" b="1" kern="0" spc="15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LEERLO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Creator declara factoryMethod(); cada ConcreteCreator lo redefine para devolver su ConcreteProduct.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distintos tipos de reporte o notificación.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886200" y="1691640"/>
            <a:ext cx="7665415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7FC1E6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nathan PC\AppData\Local\Temp\claude\C--sp-digital-solutions-design-course\bbf0c303-6bc6-47ab-b572-d435e00a8ccd\scratchpad\refimg\factory-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754" y="1965960"/>
            <a:ext cx="6670307" cy="3840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886200" y="6153912"/>
            <a:ext cx="7665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del diagrama: refactoring.guru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CREACIONAL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Abstract Factory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063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familias de objetos relacionados sin acoplar el código a sus clases concretas.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50" b="1" kern="0" spc="15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LEERLO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fábrica abstracta agrupa varios métodos de creación; cada fábrica concreta produce una familia coherente.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componentes de UI para web vs. móvil.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886200" y="1691640"/>
            <a:ext cx="7665415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7FC1E6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nathan PC\AppData\Local\Temp\claude\C--sp-digital-solutions-design-course\bbf0c303-6bc6-47ab-b572-d435e00a8ccd\scratchpad\refimg\abstract-fa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524" y="1965960"/>
            <a:ext cx="6144768" cy="3840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886200" y="6153912"/>
            <a:ext cx="7665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del diagrama: refactoring.guru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CREACIONAL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063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objetos complejos paso a paso, separando la construcción de su representación final.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50" b="1" kern="0" spc="15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LEERLO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Director orquesta los pasos; cada Builder concreto los implementa y arma un producto distinto.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query builder, formularios dinámicos.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886200" y="1691640"/>
            <a:ext cx="7665415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7FC1E6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nathan PC\AppData\Local\Temp\claude\C--sp-digital-solutions-design-course\bbf0c303-6bc6-47ab-b572-d435e00a8ccd\scratchpad\refimg\bui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959" y="1965960"/>
            <a:ext cx="3045898" cy="3840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886200" y="6153912"/>
            <a:ext cx="7665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del diagrama: refactoring.guru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Patrones estructurales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2888" cy="2212848"/>
          </a:xfrm>
          <a:prstGeom prst="roundRect">
            <a:avLst>
              <a:gd name="adj" fmla="val 3719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88900" dist="38100" dir="5400000" algn="bl" rotWithShape="0">
              <a:srgbClr val="1B2A38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" y="2002536"/>
            <a:ext cx="566928" cy="56692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895" y="2155607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9344" y="2002536"/>
            <a:ext cx="415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624328"/>
            <a:ext cx="47608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una interfaz a otra para que dos partes encajen.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integrar una API o librería externa.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78728" y="1783080"/>
            <a:ext cx="5272888" cy="2212848"/>
          </a:xfrm>
          <a:prstGeom prst="roundRect">
            <a:avLst>
              <a:gd name="adj" fmla="val 3719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88900" dist="38100" dir="5400000" algn="bl" rotWithShape="0">
              <a:srgbClr val="1B2A38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16472" y="2002536"/>
            <a:ext cx="566928" cy="56692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542" y="2155607"/>
            <a:ext cx="260787" cy="2607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47992" y="2002536"/>
            <a:ext cx="415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6534760" y="2624328"/>
            <a:ext cx="47608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comportamiento a un objeto sin modificar su clase.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middlewares, logging, permisos.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272888" cy="2212848"/>
          </a:xfrm>
          <a:prstGeom prst="roundRect">
            <a:avLst>
              <a:gd name="adj" fmla="val 3719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88900" dist="38100" dir="5400000" algn="bl" rotWithShape="0">
              <a:srgbClr val="1B2A38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77824" y="4334256"/>
            <a:ext cx="566928" cy="56692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895" y="4487327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9344" y="4334256"/>
            <a:ext cx="415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96112" y="4956048"/>
            <a:ext cx="47608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 una interfaz simple sobre un subsistema complejo.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una fachada para el módulo de pagos.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78728" y="4114800"/>
            <a:ext cx="5272888" cy="2212848"/>
          </a:xfrm>
          <a:prstGeom prst="roundRect">
            <a:avLst>
              <a:gd name="adj" fmla="val 3719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88900" dist="38100" dir="5400000" algn="bl" rotWithShape="0">
              <a:srgbClr val="1B2A38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16472" y="4334256"/>
            <a:ext cx="566928" cy="56692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9542" y="4487327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47992" y="4334256"/>
            <a:ext cx="415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6534760" y="4956048"/>
            <a:ext cx="47608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 objetos individuales y grupos de forma uniforme.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árbol de componentes o de archivos.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ESTRUCTURAL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Adapter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063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que objetos con interfaces incompatibles colaboren mediante un traductor intermedio.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50" b="1" kern="0" spc="15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LEERLO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Adapter implementa la interfaz que el cliente espera y delega las llamadas en el objeto adaptado (Service).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integrar una API o librería externa.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886200" y="1691640"/>
            <a:ext cx="7665415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7FC1E6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nathan PC\AppData\Local\Temp\claude\C--sp-digital-solutions-design-course\bbf0c303-6bc6-47ab-b572-d435e00a8ccd\scratchpad\refimg\adap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473" y="1965960"/>
            <a:ext cx="6960870" cy="3840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886200" y="6153912"/>
            <a:ext cx="7665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del diagrama: refactoring.guru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ESTRUCTURAL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Decorator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063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responsabilidades a un objeto envolviéndolo, sin modificar su clase original.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50" b="1" kern="0" spc="15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LEERLO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Decorator implementa la misma interfaz que el componente y guarda una referencia a él para extender su comportamiento.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middlewares, logging, permisos.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886200" y="1691640"/>
            <a:ext cx="7665415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7FC1E6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nathan PC\AppData\Local\Temp\claude\C--sp-digital-solutions-design-course\bbf0c303-6bc6-47ab-b572-d435e00a8ccd\scratchpad\refimg\decor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378" y="1965960"/>
            <a:ext cx="3545058" cy="3840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886200" y="6153912"/>
            <a:ext cx="7665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del diagrama: refactoring.guru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ESTRUCTURAL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Facade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063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 una interfaz simple y unificada sobre un subsistema complejo.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50" b="1" kern="0" spc="15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LEERLO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Facade conoce las clases del subsistema y decide a cuáles delegar cada petición del cliente.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una fachada para el módulo de pagos.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886200" y="1691640"/>
            <a:ext cx="7665415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7FC1E6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nathan PC\AppData\Local\Temp\claude\C--sp-digital-solutions-design-course\bbf0c303-6bc6-47ab-b572-d435e00a8ccd\scratchpad\refimg\fac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080" y="1965960"/>
            <a:ext cx="5659655" cy="3840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886200" y="6153912"/>
            <a:ext cx="7665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del diagrama: refactoring.guru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ESTRUCTURAL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Composite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063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Compón objetos en estructuras de árbol y trátalos de forma uniforme, sean hojas o compuestos.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50" b="1" kern="0" spc="15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LEERLO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y Composite comparten una interfaz común; el Composite contiene hijos del mismo tipo y les reenvía el trabajo.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árbol de componentes o de archivos.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886200" y="1691640"/>
            <a:ext cx="7665415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7FC1E6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nathan PC\AppData\Local\Temp\claude\C--sp-digital-solutions-design-course\bbf0c303-6bc6-47ab-b572-d435e00a8ccd\scratchpad\refimg\compo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802" y="1965960"/>
            <a:ext cx="3142211" cy="3840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886200" y="6153912"/>
            <a:ext cx="7665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del diagrama: refactoring.guru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Patrones de comportamiento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2888" cy="2212848"/>
          </a:xfrm>
          <a:prstGeom prst="roundRect">
            <a:avLst>
              <a:gd name="adj" fmla="val 3719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88900" dist="38100" dir="5400000" algn="bl" rotWithShape="0">
              <a:srgbClr val="1B2A38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" y="2002536"/>
            <a:ext cx="566928" cy="56692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895" y="2155607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9344" y="2002536"/>
            <a:ext cx="415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624328"/>
            <a:ext cx="47608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 automáticamente los cambios a varios suscriptores.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eventos, reactividad, pub/sub.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78728" y="1783080"/>
            <a:ext cx="5272888" cy="2212848"/>
          </a:xfrm>
          <a:prstGeom prst="roundRect">
            <a:avLst>
              <a:gd name="adj" fmla="val 3719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88900" dist="38100" dir="5400000" algn="bl" rotWithShape="0">
              <a:srgbClr val="1B2A38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16472" y="2002536"/>
            <a:ext cx="566928" cy="56692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542" y="2155607"/>
            <a:ext cx="260787" cy="2607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47992" y="2002536"/>
            <a:ext cx="415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6534760" y="2624328"/>
            <a:ext cx="47608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Intercambia algoritmos en tiempo de ejecución.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métodos de pago o de envío.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272888" cy="2212848"/>
          </a:xfrm>
          <a:prstGeom prst="roundRect">
            <a:avLst>
              <a:gd name="adj" fmla="val 3719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88900" dist="38100" dir="5400000" algn="bl" rotWithShape="0">
              <a:srgbClr val="1B2A38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77824" y="4334256"/>
            <a:ext cx="566928" cy="56692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895" y="4487327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9344" y="4334256"/>
            <a:ext cx="415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96112" y="4956048"/>
            <a:ext cx="47608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 una acción como un objeto.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deshacer/rehacer, colas de tareas.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78728" y="4114800"/>
            <a:ext cx="5272888" cy="2212848"/>
          </a:xfrm>
          <a:prstGeom prst="roundRect">
            <a:avLst>
              <a:gd name="adj" fmla="val 3719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88900" dist="38100" dir="5400000" algn="bl" rotWithShape="0">
              <a:srgbClr val="1B2A38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16472" y="4334256"/>
            <a:ext cx="566928" cy="56692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9542" y="4487327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47992" y="4334256"/>
            <a:ext cx="415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6534760" y="4956048"/>
            <a:ext cx="47608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el comportamiento según el estado interno.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estados de un pedido o solicitud.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COMPORTAMIENTO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Observer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063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una dependencia uno-a-muchos para notificar automáticamente los cambios de estado.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50" b="1" kern="0" spc="15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LEERLO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Publisher mantiene una lista de Subscribers y, al cambiar, llama al método update() de cada uno.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eventos, reactividad, pub/sub.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886200" y="1691640"/>
            <a:ext cx="7665415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7FC1E6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nathan PC\AppData\Local\Temp\claude\C--sp-digital-solutions-design-course\bbf0c303-6bc6-47ab-b572-d435e00a8ccd\scratchpad\refimg\ob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077839"/>
            <a:ext cx="7116775" cy="36167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886200" y="6153912"/>
            <a:ext cx="7665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del diagrama: refactoring.guru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COMPORTAMIENTO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063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una familia de algoritmos intercambiables y encapsula cada uno por separado.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50" b="1" kern="0" spc="15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LEERLO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 guarda una referencia a una Strategy y le delega el trabajo; cambiar la estrategia cambia el algoritmo.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métodos de pago o de envío.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886200" y="1691640"/>
            <a:ext cx="7665415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7FC1E6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nathan PC\AppData\Local\Temp\claude\C--sp-digital-solutions-design-course\bbf0c303-6bc6-47ab-b572-d435e00a8ccd\scratchpad\refimg\strate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379" y="1965960"/>
            <a:ext cx="4567057" cy="3840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886200" y="6153912"/>
            <a:ext cx="7665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del diagrama: refactoring.guru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COMPORTAMIENTO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Command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063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 una petición como un objeto, con toda la información necesaria para ejecutarla.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50" b="1" kern="0" spc="15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LEERLO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Invoker dispara execute(); cada ConcreteCommand traduce la llamada en acciones sobre un Receiver.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deshacer/rehacer, colas de tareas.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886200" y="1691640"/>
            <a:ext cx="7665415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7FC1E6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nathan PC\AppData\Local\Temp\claude\C--sp-digital-solutions-design-course\bbf0c303-6bc6-47ab-b572-d435e00a8ccd\scratchpad\refimg\comm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310" y="1965960"/>
            <a:ext cx="6539196" cy="3840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886200" y="6153912"/>
            <a:ext cx="7665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del diagrama: refactoring.guru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COMPORTAMIENTO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063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que un objeto altere su comportamiento cuando cambia su estado interno.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50" b="1" kern="0" spc="15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LEERLO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 delega en un objeto State; al cambiar de estado concreto cambia el comportamiento, sin condicionales gigantes.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estados de un pedido o solicitud.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886200" y="1691640"/>
            <a:ext cx="7665415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7FC1E6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nathan PC\AppData\Local\Temp\claude\C--sp-digital-solutions-design-course\bbf0c303-6bc6-47ab-b572-d435e00a8ccd\scratchpad\refimg\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811" y="1965960"/>
            <a:ext cx="5058193" cy="3840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886200" y="6153912"/>
            <a:ext cx="7665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del diagrama: refactoring.guru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DEL GOF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Patrones modernos de aplicación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2888" cy="2212848"/>
          </a:xfrm>
          <a:prstGeom prst="roundRect">
            <a:avLst>
              <a:gd name="adj" fmla="val 3719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88900" dist="38100" dir="5400000" algn="bl" rotWithShape="0">
              <a:srgbClr val="1B2A38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" y="2002536"/>
            <a:ext cx="566928" cy="56692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895" y="2155607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9344" y="2002536"/>
            <a:ext cx="415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de dependencias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624328"/>
            <a:ext cx="47608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clase recibe sus dependencias en lugar de crearlas.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el corazón de NestJS, Angular y Spring.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78728" y="1783080"/>
            <a:ext cx="5272888" cy="2212848"/>
          </a:xfrm>
          <a:prstGeom prst="roundRect">
            <a:avLst>
              <a:gd name="adj" fmla="val 3719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88900" dist="38100" dir="5400000" algn="bl" rotWithShape="0">
              <a:srgbClr val="1B2A38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16472" y="2002536"/>
            <a:ext cx="566928" cy="56692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542" y="2155607"/>
            <a:ext cx="260787" cy="2607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47992" y="2002536"/>
            <a:ext cx="415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6534760" y="2624328"/>
            <a:ext cx="47608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Abstrae y centraliza el acceso a los datos.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separar la lógica de la base de datos.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272888" cy="2212848"/>
          </a:xfrm>
          <a:prstGeom prst="roundRect">
            <a:avLst>
              <a:gd name="adj" fmla="val 3719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88900" dist="38100" dir="5400000" algn="bl" rotWithShape="0">
              <a:srgbClr val="1B2A38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77824" y="4334256"/>
            <a:ext cx="566928" cy="56692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895" y="4487327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9344" y="4334256"/>
            <a:ext cx="415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/ MVVM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96112" y="4956048"/>
            <a:ext cx="47608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datos, lógica de negocio y presentación.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backend en capas, apps frontend.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78728" y="4114800"/>
            <a:ext cx="5272888" cy="2212848"/>
          </a:xfrm>
          <a:prstGeom prst="roundRect">
            <a:avLst>
              <a:gd name="adj" fmla="val 3719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88900" dist="38100" dir="5400000" algn="bl" rotWithShape="0">
              <a:srgbClr val="1B2A38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16472" y="4334256"/>
            <a:ext cx="566928" cy="56692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9542" y="4487327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47992" y="4334256"/>
            <a:ext cx="415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&amp; Middleware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6534760" y="4956048"/>
            <a:ext cx="47608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 datos y aplica lógica transversal.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0E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pipes, guards e interceptors.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PROFUNDIDAD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Inyección de dependencias (DI)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de control:  </a:t>
            </a:r>
            <a:r>
              <a:rPr lang="en-US" sz="14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no crea sus dependencias, las recibe desde fuera. Un contenedor se encarga de proveerlas.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475488" cy="47548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62" y="3191622"/>
            <a:ext cx="218724" cy="2187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16736" y="3017520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acoplamiento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16736" y="3337560"/>
            <a:ext cx="4672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clases dependen de interfaces, no de implementaciones.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977640"/>
            <a:ext cx="475488" cy="47548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462" y="4106022"/>
            <a:ext cx="218724" cy="2187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16736" y="3931920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probar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316736" y="4251960"/>
            <a:ext cx="4672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inyectan simulaciones (mocks) en las pruebas.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892040"/>
            <a:ext cx="475488" cy="47548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462" y="5020422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16736" y="4846320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Reutilizable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16736" y="5166360"/>
            <a:ext cx="4672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clase sirve en distintos contextos.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263640" y="1783080"/>
            <a:ext cx="5285232" cy="4526280"/>
          </a:xfrm>
          <a:prstGeom prst="roundRect">
            <a:avLst>
              <a:gd name="adj" fmla="val 2020"/>
            </a:avLst>
          </a:prstGeom>
          <a:solidFill>
            <a:srgbClr val="16324E"/>
          </a:solidFill>
          <a:ln/>
          <a:effectLst>
            <a:outerShdw blurRad="114300" dist="50800" dir="5400000" algn="bl" rotWithShape="0">
              <a:srgbClr val="1B2A3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6583680" y="194767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C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servicio-gastos.ts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6583680" y="2331720"/>
            <a:ext cx="473659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C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 DI: crea su propia dependencia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ServicioGastos {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 = new RepoGastos(); // acoplado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C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 Inyección de Dependencias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9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@Injectable()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ServicioGastos {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repo: RepoGastos, // inyectado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{}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PRÁCTICO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patrón Repository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76200" dist="25400" dir="5400000" algn="bl" rotWithShape="0">
              <a:srgbClr val="1B2A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04188" y="2185416"/>
            <a:ext cx="603504" cy="603504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134" y="2348362"/>
            <a:ext cx="277612" cy="2776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86207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3154680"/>
            <a:ext cx="21122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 petición HTTP.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74136" y="196596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76200" dist="25400" dir="5400000" algn="bl" rotWithShape="0">
              <a:srgbClr val="1B2A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38244" y="2185416"/>
            <a:ext cx="603504" cy="603504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1190" y="2348362"/>
            <a:ext cx="277612" cy="2776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65576" y="286207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3483864" y="3154680"/>
            <a:ext cx="21122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la lógica de negocio.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08192" y="196596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76200" dist="25400" dir="5400000" algn="bl" rotWithShape="0">
              <a:srgbClr val="1B2A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972300" y="2185416"/>
            <a:ext cx="603504" cy="603504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5246" y="2348362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99632" y="286207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3154680"/>
            <a:ext cx="21122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Abstrae el acceso a datos.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842248" y="196596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F4F9FE"/>
          </a:solidFill>
          <a:ln w="12700">
            <a:solidFill>
              <a:srgbClr val="7FC1E6"/>
            </a:solidFill>
            <a:prstDash val="solid"/>
          </a:ln>
          <a:effectLst>
            <a:outerShdw blurRad="76200" dist="25400" dir="5400000" algn="bl" rotWithShape="0">
              <a:srgbClr val="1B2A38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706356" y="2185416"/>
            <a:ext cx="603504" cy="603504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9302" y="2348362"/>
            <a:ext cx="277612" cy="2776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33688" y="286207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8951976" y="3154680"/>
            <a:ext cx="21122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la información.</a:t>
            </a:r>
            <a:endParaRPr lang="en-US" sz="10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0088" y="2583180"/>
            <a:ext cx="365760" cy="365760"/>
          </a:xfrm>
          <a:prstGeom prst="rect">
            <a:avLst/>
          </a:prstGeom>
        </p:spPr>
      </p:pic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4144" y="2583180"/>
            <a:ext cx="365760" cy="365760"/>
          </a:xfrm>
          <a:prstGeom prst="rect">
            <a:avLst/>
          </a:prstGeom>
        </p:spPr>
      </p:pic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2583180"/>
            <a:ext cx="365760" cy="36576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40080" y="3977640"/>
            <a:ext cx="6492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oculta el origen de los datos detrás de una interfaz.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de PostgreSQL a memoria o a otra API no afecta al resto de la app.</a:t>
            </a:r>
            <a:endParaRPr lang="en-US" sz="14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tiene una única responsabilidad y se prueba por separado.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7360920" y="3977640"/>
            <a:ext cx="4187952" cy="1828800"/>
          </a:xfrm>
          <a:prstGeom prst="roundRect">
            <a:avLst>
              <a:gd name="adj" fmla="val 5000"/>
            </a:avLst>
          </a:prstGeom>
          <a:solidFill>
            <a:srgbClr val="E9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0"/>
          <p:cNvSpPr/>
          <p:nvPr/>
        </p:nvSpPr>
        <p:spPr>
          <a:xfrm>
            <a:off x="7635240" y="4224528"/>
            <a:ext cx="640080" cy="640080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8062" y="4397350"/>
            <a:ext cx="294437" cy="294437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8458200" y="411480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estructura la </a:t>
            </a:r>
            <a:r>
              <a:rPr lang="en-US" sz="1350" b="1" dirty="0">
                <a:solidFill>
                  <a:srgbClr val="0E4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budget-api</a:t>
            </a: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construirás con NestJS en la Semana 8.</a:t>
            </a:r>
            <a:endParaRPr lang="en-US" sz="1350" dirty="0"/>
          </a:p>
        </p:txBody>
      </p:sp>
      <p:sp>
        <p:nvSpPr>
          <p:cNvPr id="32" name="Text 22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33" name="Text 23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ALERTA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Patrones vs. anti-patrones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anti-patrón es una solución común que parece útil pero genera más problemas. Reconócelos: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2148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ANTI-PATRÓN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QUE LO RESUELVE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4892040" cy="822960"/>
          </a:xfrm>
          <a:prstGeom prst="roundRect">
            <a:avLst>
              <a:gd name="adj" fmla="val 7778"/>
            </a:avLst>
          </a:prstGeom>
          <a:solidFill>
            <a:srgbClr val="F7EDEC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2660904"/>
            <a:ext cx="475488" cy="475488"/>
          </a:xfrm>
          <a:prstGeom prst="ellipse">
            <a:avLst/>
          </a:prstGeom>
          <a:solidFill>
            <a:srgbClr val="C0504D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342" y="2789286"/>
            <a:ext cx="218724" cy="21872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44752" y="248716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Object</a:t>
            </a:r>
            <a:endParaRPr lang="en-US" sz="14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clase que lo hace todo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715768"/>
            <a:ext cx="384048" cy="38404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75120" y="2487168"/>
            <a:ext cx="4873752" cy="822960"/>
          </a:xfrm>
          <a:prstGeom prst="roundRect">
            <a:avLst>
              <a:gd name="adj" fmla="val 7778"/>
            </a:avLst>
          </a:prstGeom>
          <a:solidFill>
            <a:srgbClr val="EAF4EF"/>
          </a:solidFill>
          <a:ln w="12700">
            <a:solidFill>
              <a:srgbClr val="2E8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858000" y="2660904"/>
            <a:ext cx="475488" cy="475488"/>
          </a:xfrm>
          <a:prstGeom prst="ellipse">
            <a:avLst/>
          </a:prstGeom>
          <a:solidFill>
            <a:srgbClr val="2E8B6F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382" y="2789286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79792" y="248716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única + Facade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419856"/>
            <a:ext cx="4892040" cy="822960"/>
          </a:xfrm>
          <a:prstGeom prst="roundRect">
            <a:avLst>
              <a:gd name="adj" fmla="val 7778"/>
            </a:avLst>
          </a:prstGeom>
          <a:solidFill>
            <a:srgbClr val="F7EDEC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22960" y="3593592"/>
            <a:ext cx="475488" cy="475488"/>
          </a:xfrm>
          <a:prstGeom prst="ellipse">
            <a:avLst/>
          </a:prstGeom>
          <a:solidFill>
            <a:srgbClr val="C0504D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342" y="3721974"/>
            <a:ext cx="218724" cy="2187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44752" y="3419856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espagueti</a:t>
            </a:r>
            <a:endParaRPr lang="en-US" sz="14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enredado y sin capas</a:t>
            </a:r>
            <a:endParaRPr lang="en-US" sz="14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648456"/>
            <a:ext cx="384048" cy="384048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675120" y="3419856"/>
            <a:ext cx="4873752" cy="822960"/>
          </a:xfrm>
          <a:prstGeom prst="roundRect">
            <a:avLst>
              <a:gd name="adj" fmla="val 7778"/>
            </a:avLst>
          </a:prstGeom>
          <a:solidFill>
            <a:srgbClr val="EAF4EF"/>
          </a:solidFill>
          <a:ln w="12700">
            <a:solidFill>
              <a:srgbClr val="2E8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6858000" y="3593592"/>
            <a:ext cx="475488" cy="475488"/>
          </a:xfrm>
          <a:prstGeom prst="ellipse">
            <a:avLst/>
          </a:prstGeom>
          <a:solidFill>
            <a:srgbClr val="2E8B6F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382" y="3721974"/>
            <a:ext cx="218724" cy="21872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479792" y="341985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/ arquitectura en capas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640080" y="4352544"/>
            <a:ext cx="4892040" cy="822960"/>
          </a:xfrm>
          <a:prstGeom prst="roundRect">
            <a:avLst>
              <a:gd name="adj" fmla="val 7778"/>
            </a:avLst>
          </a:prstGeom>
          <a:solidFill>
            <a:srgbClr val="F7EDEC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8"/>
          <p:cNvSpPr/>
          <p:nvPr/>
        </p:nvSpPr>
        <p:spPr>
          <a:xfrm>
            <a:off x="822960" y="4526280"/>
            <a:ext cx="475488" cy="475488"/>
          </a:xfrm>
          <a:prstGeom prst="ellipse">
            <a:avLst/>
          </a:prstGeom>
          <a:solidFill>
            <a:srgbClr val="C0504D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342" y="4654662"/>
            <a:ext cx="218724" cy="21872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444752" y="4352544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y pegar</a:t>
            </a:r>
            <a:endParaRPr lang="en-US" sz="14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duplicada por todos lados</a:t>
            </a:r>
            <a:endParaRPr lang="en-US" sz="14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4581144"/>
            <a:ext cx="384048" cy="384048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6675120" y="4352544"/>
            <a:ext cx="4873752" cy="822960"/>
          </a:xfrm>
          <a:prstGeom prst="roundRect">
            <a:avLst>
              <a:gd name="adj" fmla="val 7778"/>
            </a:avLst>
          </a:prstGeom>
          <a:solidFill>
            <a:srgbClr val="EAF4EF"/>
          </a:solidFill>
          <a:ln w="12700">
            <a:solidFill>
              <a:srgbClr val="2E8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1"/>
          <p:cNvSpPr/>
          <p:nvPr/>
        </p:nvSpPr>
        <p:spPr>
          <a:xfrm>
            <a:off x="6858000" y="4526280"/>
            <a:ext cx="475488" cy="475488"/>
          </a:xfrm>
          <a:prstGeom prst="ellipse">
            <a:avLst/>
          </a:prstGeom>
          <a:solidFill>
            <a:srgbClr val="2E8B6F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382" y="4654662"/>
            <a:ext cx="218724" cy="218724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7479792" y="4352544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Template Method</a:t>
            </a:r>
            <a:endParaRPr lang="en-US" sz="1400" dirty="0"/>
          </a:p>
        </p:txBody>
      </p:sp>
      <p:sp>
        <p:nvSpPr>
          <p:cNvPr id="34" name="Shape 23"/>
          <p:cNvSpPr/>
          <p:nvPr/>
        </p:nvSpPr>
        <p:spPr>
          <a:xfrm>
            <a:off x="640080" y="5285232"/>
            <a:ext cx="4892040" cy="822960"/>
          </a:xfrm>
          <a:prstGeom prst="roundRect">
            <a:avLst>
              <a:gd name="adj" fmla="val 7778"/>
            </a:avLst>
          </a:prstGeom>
          <a:solidFill>
            <a:srgbClr val="F7EDEC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4"/>
          <p:cNvSpPr/>
          <p:nvPr/>
        </p:nvSpPr>
        <p:spPr>
          <a:xfrm>
            <a:off x="822960" y="5458968"/>
            <a:ext cx="475488" cy="475488"/>
          </a:xfrm>
          <a:prstGeom prst="ellipse">
            <a:avLst/>
          </a:prstGeom>
          <a:solidFill>
            <a:srgbClr val="C0504D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342" y="5587350"/>
            <a:ext cx="218724" cy="218724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1444752" y="5285232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Acoplamiento fuerte</a:t>
            </a:r>
            <a:endParaRPr lang="en-US" sz="14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que dependen de detalles</a:t>
            </a:r>
            <a:endParaRPr lang="en-US" sz="140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5513832"/>
            <a:ext cx="384048" cy="384048"/>
          </a:xfrm>
          <a:prstGeom prst="rect">
            <a:avLst/>
          </a:prstGeom>
        </p:spPr>
      </p:pic>
      <p:sp>
        <p:nvSpPr>
          <p:cNvPr id="39" name="Shape 26"/>
          <p:cNvSpPr/>
          <p:nvPr/>
        </p:nvSpPr>
        <p:spPr>
          <a:xfrm>
            <a:off x="6675120" y="5285232"/>
            <a:ext cx="4873752" cy="822960"/>
          </a:xfrm>
          <a:prstGeom prst="roundRect">
            <a:avLst>
              <a:gd name="adj" fmla="val 7778"/>
            </a:avLst>
          </a:prstGeom>
          <a:solidFill>
            <a:srgbClr val="EAF4EF"/>
          </a:solidFill>
          <a:ln w="12700">
            <a:solidFill>
              <a:srgbClr val="2E8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27"/>
          <p:cNvSpPr/>
          <p:nvPr/>
        </p:nvSpPr>
        <p:spPr>
          <a:xfrm>
            <a:off x="6858000" y="5458968"/>
            <a:ext cx="475488" cy="475488"/>
          </a:xfrm>
          <a:prstGeom prst="ellipse">
            <a:avLst/>
          </a:prstGeom>
          <a:solidFill>
            <a:srgbClr val="2E8B6F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382" y="5587350"/>
            <a:ext cx="218724" cy="218724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7479792" y="528523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de dependencias</a:t>
            </a:r>
            <a:endParaRPr lang="en-US" sz="1400" dirty="0"/>
          </a:p>
        </p:txBody>
      </p:sp>
      <p:sp>
        <p:nvSpPr>
          <p:cNvPr id="43" name="Text 29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44" name="Text 30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DISEÑO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¿Cuándo usar un patrón?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27168" cy="3383280"/>
          </a:xfrm>
          <a:prstGeom prst="roundRect">
            <a:avLst>
              <a:gd name="adj" fmla="val 2703"/>
            </a:avLst>
          </a:prstGeom>
          <a:solidFill>
            <a:srgbClr val="EAF4EF"/>
          </a:solidFill>
          <a:ln/>
          <a:effectLst>
            <a:outerShdw blurRad="889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011680"/>
            <a:ext cx="640080" cy="640080"/>
          </a:xfrm>
          <a:prstGeom prst="ellipse">
            <a:avLst/>
          </a:prstGeom>
          <a:solidFill>
            <a:srgbClr val="2E8B6F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942" y="2184502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11680"/>
            <a:ext cx="394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Aplícalo cuando…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2880360"/>
            <a:ext cx="44499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es recurrente y ya está bien entendido.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comparte el vocabulario del patrón.</a:t>
            </a:r>
            <a:endParaRPr lang="en-US" sz="14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necesita flexibilidad para cambios futuros.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4448" y="1783080"/>
            <a:ext cx="5227168" cy="3383280"/>
          </a:xfrm>
          <a:prstGeom prst="roundRect">
            <a:avLst>
              <a:gd name="adj" fmla="val 2703"/>
            </a:avLst>
          </a:prstGeom>
          <a:solidFill>
            <a:srgbClr val="F7EDEC"/>
          </a:solidFill>
          <a:ln/>
          <a:effectLst>
            <a:outerShdw blurRad="88900" dist="381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44488" y="2011680"/>
            <a:ext cx="640080" cy="640080"/>
          </a:xfrm>
          <a:prstGeom prst="ellipse">
            <a:avLst/>
          </a:prstGeom>
          <a:solidFill>
            <a:srgbClr val="C0504D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309" y="218450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21728" y="2011680"/>
            <a:ext cx="394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cuidado si…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735928" y="2880360"/>
            <a:ext cx="44499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fuerzas donde no encaja solo por usarlo.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complejidad sin un beneficio claro (sobre-ingeniería).</a:t>
            </a:r>
            <a:endParaRPr lang="en-US" sz="14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solución simple resolvería igual el problema.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539496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0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1005840" y="5394960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7FC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“Prefiere el código simple; </a:t>
            </a: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el patrón cuando el dolor lo pida</a:t>
            </a:r>
            <a:r>
              <a:rPr lang="en-US" sz="1600" i="1" dirty="0">
                <a:solidFill>
                  <a:srgbClr val="7FC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.”   — KISS &amp; YAGNI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389120" cy="4389120"/>
          </a:xfrm>
          <a:prstGeom prst="ellipse">
            <a:avLst/>
          </a:prstGeom>
          <a:solidFill>
            <a:srgbClr val="0E4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78000"/>
          </a:blip>
          <a:stretch>
            <a:fillRect/>
          </a:stretch>
        </p:blipFill>
        <p:spPr>
          <a:xfrm>
            <a:off x="10195560" y="5029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C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EN CLASE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96012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Taller: aplica un patrón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566928" cy="566928"/>
          </a:xfrm>
          <a:prstGeom prst="ellipse">
            <a:avLst/>
          </a:prstGeom>
          <a:solidFill>
            <a:srgbClr val="2072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400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148840"/>
            <a:ext cx="10042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9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Elijan un fragmento de código o un caso real de su proyecto.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40080" y="2990088"/>
            <a:ext cx="566928" cy="566928"/>
          </a:xfrm>
          <a:prstGeom prst="ellipse">
            <a:avLst/>
          </a:prstGeom>
          <a:solidFill>
            <a:srgbClr val="2072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40080" y="2990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2990088"/>
            <a:ext cx="10042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9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Identifiquen un problema de diseño: acoplamiento, duplicación o rigidez.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2072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008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508760" y="3831336"/>
            <a:ext cx="10042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9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Seleccionen un patrón adecuado y justifiquen por qué encaja.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640080" y="4672584"/>
            <a:ext cx="566928" cy="566928"/>
          </a:xfrm>
          <a:prstGeom prst="ellipse">
            <a:avLst/>
          </a:prstGeom>
          <a:solidFill>
            <a:srgbClr val="2072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40080" y="4672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1508760" y="4672584"/>
            <a:ext cx="10042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9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Refactoricen con un diagrama o pseudocódigo aplicando el patrón.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640080" y="5513832"/>
            <a:ext cx="566928" cy="566928"/>
          </a:xfrm>
          <a:prstGeom prst="ellipse">
            <a:avLst/>
          </a:prstGeom>
          <a:solidFill>
            <a:srgbClr val="2072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40080" y="5513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1508760" y="5513832"/>
            <a:ext cx="10042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9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Entreguen 1 archivo con el antes / después y el patrón utilizado.</a:t>
            </a:r>
            <a:endParaRPr lang="en-US" sz="1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0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SEGUIR APRENDIENDO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Recursos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75488" cy="47548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62" y="2094342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16736" y="1920240"/>
            <a:ext cx="102348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refactoring.guru/design-patterns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16736" y="2240280"/>
            <a:ext cx="102348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visual con diagramas y ejemplos de código. Fuente de los diagramas de esta presentación.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475488" cy="47548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462" y="3191622"/>
            <a:ext cx="218724" cy="2187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16736" y="3017520"/>
            <a:ext cx="102348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“Design Patterns” — Gang of Four (1994)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16736" y="3337560"/>
            <a:ext cx="102348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libro original que catalogó los 23 patrones de diseño clásicos.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160520"/>
            <a:ext cx="475488" cy="475488"/>
          </a:xfrm>
          <a:prstGeom prst="ellipse">
            <a:avLst/>
          </a:prstGeom>
          <a:solidFill>
            <a:srgbClr val="2072B8"/>
          </a:solidFill>
          <a:ln/>
          <a:effectLst>
            <a:outerShdw blurRad="63500" dist="254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462" y="4288902"/>
            <a:ext cx="218724" cy="2187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16736" y="4114800"/>
            <a:ext cx="102348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refactoring.guru/design-patterns/catalog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16736" y="4434840"/>
            <a:ext cx="102348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catálogo completo, organizado por las tres familias de patrones.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257800"/>
            <a:ext cx="10911535" cy="914400"/>
          </a:xfrm>
          <a:prstGeom prst="roundRect">
            <a:avLst>
              <a:gd name="adj" fmla="val 10000"/>
            </a:avLst>
          </a:prstGeom>
          <a:solidFill>
            <a:srgbClr val="E9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1005840" y="525780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i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 </a:t>
            </a:r>
            <a:r>
              <a:rPr lang="en-US" sz="1250" i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diagramas de estructura de esta presentación provienen de refactoring.guru y son propiedad de sus autores; se reproducen con fines educativos.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· Patrones de Diseño Modernos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 ·  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2407</Words>
  <Application>Microsoft Office PowerPoint</Application>
  <PresentationFormat>Widescreen</PresentationFormat>
  <Paragraphs>387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Patrones de Diseño Modernos</dc:title>
  <dc:subject>PptxGenJS Presentation</dc:subject>
  <dc:creator>Ing. Jonathan Solís Parajeles</dc:creator>
  <cp:lastModifiedBy>Jonathan Andres Solis Parajeles</cp:lastModifiedBy>
  <cp:revision>2</cp:revision>
  <dcterms:created xsi:type="dcterms:W3CDTF">2026-09-17T12:41:55Z</dcterms:created>
  <dcterms:modified xsi:type="dcterms:W3CDTF">2026-09-24T17:57:04Z</dcterms:modified>
</cp:coreProperties>
</file>