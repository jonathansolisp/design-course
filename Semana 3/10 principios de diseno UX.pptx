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7" r:id="rId4"/>
  </p:sldMasterIdLst>
  <p:notesMasterIdLst>
    <p:notesMasterId r:id="rId28"/>
  </p:notesMasterIdLst>
  <p:handoutMasterIdLst>
    <p:handoutMasterId r:id="rId29"/>
  </p:handout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10"/>
    <p:sldId id="274" r:id="rId9"/>
    <p:sldId id="275" r:id="rId8"/>
    <p:sldId id="276" r:id="rId7"/>
    <p:sldId id="277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3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6" Type="http://schemas.openxmlformats.org/officeDocument/2006/relationships/slide" Target="slides/slide22.xml"/><Relationship Id="rId7" Type="http://schemas.openxmlformats.org/officeDocument/2006/relationships/slide" Target="slides/slide21.xml"/><Relationship Id="rId8" Type="http://schemas.openxmlformats.org/officeDocument/2006/relationships/slide" Target="slides/slide20.xml"/><Relationship Id="rId9" Type="http://schemas.openxmlformats.org/officeDocument/2006/relationships/slide" Target="slides/slide19.xml"/><Relationship Id="rId10" Type="http://schemas.openxmlformats.org/officeDocument/2006/relationships/slide" Target="slides/slide18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9B3372-74CF-4E21-A4D4-286B22AA5A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762BE-D43C-49F5-99A5-BF49C69592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5766F-5EC0-4797-B4D1-777FCB005B11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9E452-9BCA-4AF5-9A9C-233BF410EA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F9F63-CE4F-44E2-A07D-7E654DE9F57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AC76B-F5B1-4D6E-BACD-2A80744AC9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1452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4B5EC-152C-4627-80C0-63B10D5574EF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EE60E-651F-40CC-AD73-C00F10CE42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41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 rotWithShape="1">
          <a:gsLst>
            <a:gs pos="0">
              <a:srgbClr val="0B2A47"/>
            </a:gs>
            <a:gs pos="55000">
              <a:srgbClr val="123E63"/>
            </a:gs>
            <a:gs pos="100000">
              <a:srgbClr val="256FAA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CFE6F7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Accent"/>
          <p:cNvSpPr/>
          <p:nvPr/>
        </p:nvSpPr>
        <p:spPr>
          <a:xfrm>
            <a:off x="5461000" y="3545000"/>
            <a:ext cx="1270000" cy="45720"/>
          </a:xfrm>
          <a:prstGeom prst="roundRect">
            <a:avLst>
              <a:gd name="adj" fmla="val 50000"/>
            </a:avLst>
          </a:prstGeom>
          <a:solidFill>
            <a:srgbClr val="54B4E4"/>
          </a:solidFill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7217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ide Accent Bar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gradFill>
            <a:gsLst>
              <a:gs pos="0">
                <a:srgbClr val="0E3A5F"/>
              </a:gs>
              <a:gs pos="100000">
                <a:srgbClr val="54B4E4"/>
              </a:gs>
            </a:gsLst>
            <a:lin ang="5400000" scaled="1"/>
          </a:gradFill>
        </p:spPr>
        <p:txBody>
          <a:bodyPr/>
          <a:lstStyle/>
          <a:p>
            <a:endParaRPr lang="es-ES"/>
          </a:p>
        </p:txBody>
      </p:sp>
      <p:sp>
        <p:nvSpPr>
          <p:cNvPr id="11" name="Title Accent Rule"/>
          <p:cNvSpPr/>
          <p:nvPr/>
        </p:nvSpPr>
        <p:spPr>
          <a:xfrm>
            <a:off x="838200" y="1712000"/>
            <a:ext cx="1600200" cy="45720"/>
          </a:xfrm>
          <a:prstGeom prst="roundRect">
            <a:avLst>
              <a:gd name="adj" fmla="val 50000"/>
            </a:avLst>
          </a:prstGeom>
          <a:solidFill>
            <a:srgbClr val="54B4E4"/>
          </a:solidFill>
        </p:spPr>
        <p:txBody>
          <a:bodyPr/>
          <a:lstStyle/>
          <a:p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372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135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916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60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445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707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661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132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435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9044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8/20/2026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296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5400">
                <a:latin typeface="Rockwell"/>
                <a:cs typeface="Rockwell"/>
              </a:rPr>
              <a:t>Diseño de software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2400">
                <a:latin typeface="Tahoma"/>
                <a:cs typeface="Tahoma"/>
              </a:rPr>
              <a:t>Ing. Jonathan Solís Parajeles | ITCR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wrap="square"/>
          <a:lstStyle/>
          <a:p>
            <a:r>
              <a:rPr sz="4000">
                <a:latin typeface="Rockwell"/>
                <a:cs typeface="Rockwell"/>
              </a:rPr>
              <a:t>Los 10 principios de diseño 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133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2200" b="1">
                <a:latin typeface="Arial"/>
                <a:cs typeface="Arial"/>
              </a:rPr>
              <a:t>Tema de hoy: </a:t>
            </a:r>
            <a:r>
              <a:rPr sz="2200" b="0">
                <a:latin typeface="Arial"/>
                <a:cs typeface="Arial"/>
              </a:rPr>
              <a:t>las 10 heurísticas de usabilidad de Jakob Nielsen.</a:t>
            </a:r>
          </a:p>
          <a:p>
            <a:pPr>
              <a:spcAft>
                <a:spcPts val="600"/>
              </a:spcAft>
            </a:pPr>
            <a:r>
              <a:rPr sz="2200" b="1">
                <a:latin typeface="Arial"/>
                <a:cs typeface="Arial"/>
              </a:rPr>
              <a:t>Qué son: </a:t>
            </a:r>
            <a:r>
              <a:rPr sz="2200" b="0">
                <a:latin typeface="Arial"/>
                <a:cs typeface="Arial"/>
              </a:rPr>
              <a:t>reglas generales para diseñar y evaluar interfaces usables.</a:t>
            </a:r>
          </a:p>
          <a:p>
            <a:pPr>
              <a:spcAft>
                <a:spcPts val="600"/>
              </a:spcAft>
            </a:pPr>
            <a:r>
              <a:rPr sz="2200" b="1">
                <a:latin typeface="Arial"/>
                <a:cs typeface="Arial"/>
              </a:rPr>
              <a:t>Para qué: </a:t>
            </a:r>
            <a:r>
              <a:rPr sz="2200" b="0">
                <a:latin typeface="Arial"/>
                <a:cs typeface="Arial"/>
              </a:rPr>
              <a:t>detectar problemas de usabilidad de forma rápida y barata.</a:t>
            </a:r>
          </a:p>
          <a:p>
            <a:pPr>
              <a:spcAft>
                <a:spcPts val="600"/>
              </a:spcAft>
            </a:pPr>
            <a:r>
              <a:rPr sz="2200" b="1">
                <a:latin typeface="Arial"/>
                <a:cs typeface="Arial"/>
              </a:rPr>
              <a:t>Conexión: </a:t>
            </a:r>
            <a:r>
              <a:rPr sz="2200" b="0">
                <a:latin typeface="Arial"/>
                <a:cs typeface="Arial"/>
              </a:rPr>
              <a:t>profundizamos la lista que vimos en la unidad de UX/UI.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wrap="square"/>
          <a:lstStyle/>
          <a:p>
            <a:r>
              <a:rPr sz="4000">
                <a:latin typeface="Rockwell"/>
                <a:cs typeface="Rockwell"/>
              </a:rPr>
              <a:t>Recordatorio: ¿qué es la usabilidad?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133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Definición: </a:t>
            </a:r>
            <a:r>
              <a:rPr sz="1800" b="0">
                <a:latin typeface="Arial"/>
                <a:cs typeface="Arial"/>
              </a:rPr>
              <a:t>qué tan fácil y agradable es usar una interfaz para lograr una tarea.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Facilidad de aprendizaje: </a:t>
            </a:r>
            <a:r>
              <a:rPr sz="1800" b="0">
                <a:latin typeface="Arial"/>
                <a:cs typeface="Arial"/>
              </a:rPr>
              <a:t>qué tan rápido aprende un usuario nuevo.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Eficiencia: </a:t>
            </a:r>
            <a:r>
              <a:rPr sz="1800" b="0">
                <a:latin typeface="Arial"/>
                <a:cs typeface="Arial"/>
              </a:rPr>
              <a:t>qué tan rápido trabaja una vez que ya aprendió.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Memorabilidad: </a:t>
            </a:r>
            <a:r>
              <a:rPr sz="1800" b="0">
                <a:latin typeface="Arial"/>
                <a:cs typeface="Arial"/>
              </a:rPr>
              <a:t>qué tan fácil retoma el uso tras un tiempo sin usarla.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Errores: </a:t>
            </a:r>
            <a:r>
              <a:rPr sz="1800" b="0">
                <a:latin typeface="Arial"/>
                <a:cs typeface="Arial"/>
              </a:rPr>
              <a:t>cuántos comete y qué tan fácil se recupera.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Satisfacción: </a:t>
            </a:r>
            <a:r>
              <a:rPr sz="1800" b="0">
                <a:latin typeface="Arial"/>
                <a:cs typeface="Arial"/>
              </a:rPr>
              <a:t>qué tan placentera resulta la experiencia.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wrap="square"/>
          <a:lstStyle/>
          <a:p>
            <a:r>
              <a:rPr sz="4000">
                <a:latin typeface="Rockwell"/>
                <a:cs typeface="Rockwell"/>
              </a:rPr>
              <a:t>¿Qué son las 10 heurísticas?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133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Autor: </a:t>
            </a:r>
            <a:r>
              <a:rPr sz="1800" b="0">
                <a:latin typeface="Arial"/>
                <a:cs typeface="Arial"/>
              </a:rPr>
              <a:t>Jakob Nielsen (Nielsen Norman Group), publicadas en 1994.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Heurística: </a:t>
            </a:r>
            <a:r>
              <a:rPr sz="1800" b="0">
                <a:latin typeface="Arial"/>
                <a:cs typeface="Arial"/>
              </a:rPr>
              <a:t>una regla general o “regla de oro”, no una norma rígida.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Amplias por diseño: </a:t>
            </a:r>
            <a:r>
              <a:rPr sz="1800" b="0">
                <a:latin typeface="Arial"/>
                <a:cs typeface="Arial"/>
              </a:rPr>
              <a:t>aplican a casi cualquier interfaz y tecnología.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Doble uso: </a:t>
            </a:r>
            <a:r>
              <a:rPr sz="1800" b="0">
                <a:latin typeface="Arial"/>
                <a:cs typeface="Arial"/>
              </a:rPr>
              <a:t>sirven para diseñar y para evaluar productos existentes.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Vigentes: </a:t>
            </a:r>
            <a:r>
              <a:rPr sz="1800" b="0">
                <a:latin typeface="Arial"/>
                <a:cs typeface="Arial"/>
              </a:rPr>
              <a:t>más de 25 años después, siguen siendo el estándar de la industria.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wrap="square"/>
          <a:lstStyle/>
          <a:p>
            <a:r>
              <a:rPr sz="4000">
                <a:latin typeface="Rockwell"/>
                <a:cs typeface="Rockwell"/>
              </a:rPr>
              <a:t>¿Por qué importan?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133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Evaluación barata: </a:t>
            </a:r>
            <a:r>
              <a:rPr sz="1800" b="0">
                <a:latin typeface="Arial"/>
                <a:cs typeface="Arial"/>
              </a:rPr>
              <a:t>no requieren usuarios ni laboratorio (“discount usability”).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Rápidas: </a:t>
            </a:r>
            <a:r>
              <a:rPr sz="1800" b="0">
                <a:latin typeface="Arial"/>
                <a:cs typeface="Arial"/>
              </a:rPr>
              <a:t>un experto revisa una interfaz en pocas horas.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Detección temprana: </a:t>
            </a:r>
            <a:r>
              <a:rPr sz="1800" b="0">
                <a:latin typeface="Arial"/>
                <a:cs typeface="Arial"/>
              </a:rPr>
              <a:t>encuentran problemas antes de programar o lanzar.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Lenguaje común: </a:t>
            </a:r>
            <a:r>
              <a:rPr sz="1800" b="0">
                <a:latin typeface="Arial"/>
                <a:cs typeface="Arial"/>
              </a:rPr>
              <a:t>dan al equipo un vocabulario compartido para hablar de UX.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Complemento: </a:t>
            </a:r>
            <a:r>
              <a:rPr sz="1800" b="0">
                <a:latin typeface="Arial"/>
                <a:cs typeface="Arial"/>
              </a:rPr>
              <a:t>no sustituyen las pruebas con usuarios reales, las anticipan.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wrap="square"/>
          <a:lstStyle/>
          <a:p>
            <a:r>
              <a:rPr sz="4000">
                <a:latin typeface="Rockwell"/>
                <a:cs typeface="Rockwell"/>
              </a:rPr>
              <a:t>Las 10 heurísticas de un vistazo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133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1. </a:t>
            </a:r>
            <a:r>
              <a:rPr sz="1800" b="0">
                <a:latin typeface="Arial"/>
                <a:cs typeface="Arial"/>
              </a:rPr>
              <a:t>Visibilidad del estado del sistema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2. </a:t>
            </a:r>
            <a:r>
              <a:rPr sz="1800" b="0">
                <a:latin typeface="Arial"/>
                <a:cs typeface="Arial"/>
              </a:rPr>
              <a:t>Relación entre el sistema y el mundo real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3. </a:t>
            </a:r>
            <a:r>
              <a:rPr sz="1800" b="0">
                <a:latin typeface="Arial"/>
                <a:cs typeface="Arial"/>
              </a:rPr>
              <a:t>Control y libertad del usuario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4. </a:t>
            </a:r>
            <a:r>
              <a:rPr sz="1800" b="0">
                <a:latin typeface="Arial"/>
                <a:cs typeface="Arial"/>
              </a:rPr>
              <a:t>Consistencia y estándares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5. </a:t>
            </a:r>
            <a:r>
              <a:rPr sz="1800" b="0">
                <a:latin typeface="Arial"/>
                <a:cs typeface="Arial"/>
              </a:rPr>
              <a:t>Prevención de errores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6. </a:t>
            </a:r>
            <a:r>
              <a:rPr sz="1800" b="0">
                <a:latin typeface="Arial"/>
                <a:cs typeface="Arial"/>
              </a:rPr>
              <a:t>Reconocer en lugar de recordar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7. </a:t>
            </a:r>
            <a:r>
              <a:rPr sz="1800" b="0">
                <a:latin typeface="Arial"/>
                <a:cs typeface="Arial"/>
              </a:rPr>
              <a:t>Flexibilidad y eficiencia de uso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8. </a:t>
            </a:r>
            <a:r>
              <a:rPr sz="1800" b="0">
                <a:latin typeface="Arial"/>
                <a:cs typeface="Arial"/>
              </a:rPr>
              <a:t>Diseño estético y minimalista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9. </a:t>
            </a:r>
            <a:r>
              <a:rPr sz="1800" b="0">
                <a:latin typeface="Arial"/>
                <a:cs typeface="Arial"/>
              </a:rPr>
              <a:t>Reconocer, diagnosticar y recuperarse de errores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10. </a:t>
            </a:r>
            <a:r>
              <a:rPr sz="1800" b="0">
                <a:latin typeface="Arial"/>
                <a:cs typeface="Arial"/>
              </a:rPr>
              <a:t>Ayuda y documentación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wrap="square"/>
          <a:lstStyle/>
          <a:p>
            <a:r>
              <a:rPr sz="3400">
                <a:latin typeface="Rockwell"/>
                <a:cs typeface="Rockwell"/>
              </a:rPr>
              <a:t>1. Visibilidad del estado del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133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Qué es: </a:t>
            </a:r>
            <a:r>
              <a:rPr sz="1800" b="0">
                <a:latin typeface="Arial"/>
                <a:cs typeface="Arial"/>
              </a:rPr>
              <a:t>el sistema mantiene informado al usuario con retroalimentación oportuna.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Por qué: </a:t>
            </a:r>
            <a:r>
              <a:rPr sz="1800" b="0">
                <a:latin typeface="Arial"/>
                <a:cs typeface="Arial"/>
              </a:rPr>
              <a:t>reduce la incertidumbre y genera confianza y control.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Ejemplo: </a:t>
            </a:r>
            <a:r>
              <a:rPr sz="1800" b="0">
                <a:latin typeface="Arial"/>
                <a:cs typeface="Arial"/>
              </a:rPr>
              <a:t>barra de progreso al subir un archivo; “mensaje enviado”.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Buena práctica: </a:t>
            </a:r>
            <a:r>
              <a:rPr sz="1800" b="0">
                <a:latin typeface="Arial"/>
                <a:cs typeface="Arial"/>
              </a:rPr>
              <a:t>responde en menos de 1 segundo; muestra el estado de cada acción.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wrap="square"/>
          <a:lstStyle/>
          <a:p>
            <a:r>
              <a:rPr sz="3400">
                <a:latin typeface="Rockwell"/>
                <a:cs typeface="Rockwell"/>
              </a:rPr>
              <a:t>2. Relación entre el sistema y el mundo real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133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Qué es: </a:t>
            </a:r>
            <a:r>
              <a:rPr sz="1800" b="0">
                <a:latin typeface="Arial"/>
                <a:cs typeface="Arial"/>
              </a:rPr>
              <a:t>hablar el lenguaje del usuario, con conceptos y orden familiares.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Por qué: </a:t>
            </a:r>
            <a:r>
              <a:rPr sz="1800" b="0">
                <a:latin typeface="Arial"/>
                <a:cs typeface="Arial"/>
              </a:rPr>
              <a:t>lo conocido se entiende sin esfuerzo ni traducción mental.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Ejemplo: </a:t>
            </a:r>
            <a:r>
              <a:rPr sz="1800" b="0">
                <a:latin typeface="Arial"/>
                <a:cs typeface="Arial"/>
              </a:rPr>
              <a:t>íconos de carrito o papelera; “Guardar” en vez de jerga técnica.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Buena práctica: </a:t>
            </a:r>
            <a:r>
              <a:rPr sz="1800" b="0">
                <a:latin typeface="Arial"/>
                <a:cs typeface="Arial"/>
              </a:rPr>
              <a:t>usa palabras del usuario y un orden lógico y natural.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wrap="square"/>
          <a:lstStyle/>
          <a:p>
            <a:r>
              <a:rPr sz="3400">
                <a:latin typeface="Rockwell"/>
                <a:cs typeface="Rockwell"/>
              </a:rPr>
              <a:t>3. Control y libertad del usuario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133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Qué es: </a:t>
            </a:r>
            <a:r>
              <a:rPr sz="1800" b="0">
                <a:latin typeface="Arial"/>
                <a:cs typeface="Arial"/>
              </a:rPr>
              <a:t>ofrecer “salidas de emergencia” claras cuando el usuario se equivoca.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Por qué: </a:t>
            </a:r>
            <a:r>
              <a:rPr sz="1800" b="0">
                <a:latin typeface="Arial"/>
                <a:cs typeface="Arial"/>
              </a:rPr>
              <a:t>todos cometen errores; poder deshacer da seguridad para explorar.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Ejemplo: </a:t>
            </a:r>
            <a:r>
              <a:rPr sz="1800" b="0">
                <a:latin typeface="Arial"/>
                <a:cs typeface="Arial"/>
              </a:rPr>
              <a:t>deshacer/rehacer, cancelar, salir sin guardar, volver atrás.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Buena práctica: </a:t>
            </a:r>
            <a:r>
              <a:rPr sz="1800" b="0">
                <a:latin typeface="Arial"/>
                <a:cs typeface="Arial"/>
              </a:rPr>
              <a:t>haz visibles y accesibles las acciones de deshacer y salir.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wrap="square"/>
          <a:lstStyle/>
          <a:p>
            <a:r>
              <a:rPr sz="3400">
                <a:latin typeface="Rockwell"/>
                <a:cs typeface="Rockwell"/>
              </a:rPr>
              <a:t>4. Consistencia y estándares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133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Qué es: </a:t>
            </a:r>
            <a:r>
              <a:rPr sz="1800" b="0">
                <a:latin typeface="Arial"/>
                <a:cs typeface="Arial"/>
              </a:rPr>
              <a:t>las mismas palabras y acciones significan lo mismo en todo el producto.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Por qué: </a:t>
            </a:r>
            <a:r>
              <a:rPr sz="1800" b="0">
                <a:latin typeface="Arial"/>
                <a:cs typeface="Arial"/>
              </a:rPr>
              <a:t>la Ley de Jakob: los usuarios esperan que funcione como lo ya conocido.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Ejemplo: </a:t>
            </a:r>
            <a:r>
              <a:rPr sz="1800" b="0">
                <a:latin typeface="Arial"/>
                <a:cs typeface="Arial"/>
              </a:rPr>
              <a:t>el botón “Guardar” luce e se ubica igual en cada pantalla.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Buena práctica: </a:t>
            </a:r>
            <a:r>
              <a:rPr sz="1800" b="0">
                <a:latin typeface="Arial"/>
                <a:cs typeface="Arial"/>
              </a:rPr>
              <a:t>sigue las convenciones de la plataforma y un sistema de diseño.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wrap="square"/>
          <a:lstStyle/>
          <a:p>
            <a:r>
              <a:rPr sz="3400">
                <a:latin typeface="Rockwell"/>
                <a:cs typeface="Rockwell"/>
              </a:rPr>
              <a:t>5. Prevención de errores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133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Qué es: </a:t>
            </a:r>
            <a:r>
              <a:rPr sz="1800" b="0">
                <a:latin typeface="Arial"/>
                <a:cs typeface="Arial"/>
              </a:rPr>
              <a:t>un buen diseño evita que el error ocurra, mejor que explicarlo después.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Por qué: </a:t>
            </a:r>
            <a:r>
              <a:rPr sz="1800" b="0">
                <a:latin typeface="Arial"/>
                <a:cs typeface="Arial"/>
              </a:rPr>
              <a:t>prevenir es más efectivo y menos frustrante que corregir.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Ejemplo: </a:t>
            </a:r>
            <a:r>
              <a:rPr sz="1800" b="0">
                <a:latin typeface="Arial"/>
                <a:cs typeface="Arial"/>
              </a:rPr>
              <a:t>confirmar antes de borrar; validar el formulario en tiempo real.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Buena práctica: </a:t>
            </a:r>
            <a:r>
              <a:rPr sz="1800" b="0">
                <a:latin typeface="Arial"/>
                <a:cs typeface="Arial"/>
              </a:rPr>
              <a:t>usa restricciones y deshabilita las opciones inválidas.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wrap="square"/>
          <a:lstStyle/>
          <a:p>
            <a:r>
              <a:rPr sz="3400">
                <a:latin typeface="Rockwell"/>
                <a:cs typeface="Rockwell"/>
              </a:rPr>
              <a:t>6. Reconocer en lugar de recordar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133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Qué es: </a:t>
            </a:r>
            <a:r>
              <a:rPr sz="1800" b="0">
                <a:latin typeface="Arial"/>
                <a:cs typeface="Arial"/>
              </a:rPr>
              <a:t>hacer visibles opciones y acciones para no cargar la memoria.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Por qué: </a:t>
            </a:r>
            <a:r>
              <a:rPr sz="1800" b="0">
                <a:latin typeface="Arial"/>
                <a:cs typeface="Arial"/>
              </a:rPr>
              <a:t>es más fácil reconocer algo que recordarlo desde cero.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Ejemplo: </a:t>
            </a:r>
            <a:r>
              <a:rPr sz="1800" b="0">
                <a:latin typeface="Arial"/>
                <a:cs typeface="Arial"/>
              </a:rPr>
              <a:t>menús y autocompletar en vez de comandos memorizados.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Buena práctica: </a:t>
            </a:r>
            <a:r>
              <a:rPr sz="1800" b="0">
                <a:latin typeface="Arial"/>
                <a:cs typeface="Arial"/>
              </a:rPr>
              <a:t>muestra pistas y opciones en su contexto de uso.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wrap="square"/>
          <a:lstStyle/>
          <a:p>
            <a:r>
              <a:rPr sz="3400">
                <a:latin typeface="Rockwell"/>
                <a:cs typeface="Rockwell"/>
              </a:rPr>
              <a:t>7. Flexibilidad y eficiencia de uso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133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Qué es: </a:t>
            </a:r>
            <a:r>
              <a:rPr sz="1800" b="0">
                <a:latin typeface="Arial"/>
                <a:cs typeface="Arial"/>
              </a:rPr>
              <a:t>aceleradores para expertos sin estorbar a los novatos.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Por qué: </a:t>
            </a:r>
            <a:r>
              <a:rPr sz="1800" b="0">
                <a:latin typeface="Arial"/>
                <a:cs typeface="Arial"/>
              </a:rPr>
              <a:t>cada usuario avanza a su ritmo y con su propio flujo.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Ejemplo: </a:t>
            </a:r>
            <a:r>
              <a:rPr sz="1800" b="0">
                <a:latin typeface="Arial"/>
                <a:cs typeface="Arial"/>
              </a:rPr>
              <a:t>atajos de teclado, plantillas, favoritos, acciones frecuentes.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Buena práctica: </a:t>
            </a:r>
            <a:r>
              <a:rPr sz="1800" b="0">
                <a:latin typeface="Arial"/>
                <a:cs typeface="Arial"/>
              </a:rPr>
              <a:t>permite personalizar y agilizar las tareas repetidas.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wrap="square"/>
          <a:lstStyle/>
          <a:p>
            <a:r>
              <a:rPr sz="3400">
                <a:latin typeface="Rockwell"/>
                <a:cs typeface="Rockwell"/>
              </a:rPr>
              <a:t>8. Diseño estético y minimalista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133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Qué es: </a:t>
            </a:r>
            <a:r>
              <a:rPr sz="1800" b="0">
                <a:latin typeface="Arial"/>
                <a:cs typeface="Arial"/>
              </a:rPr>
              <a:t>mostrar solo lo relevante; lo innecesario compite con lo importante.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Por qué: </a:t>
            </a:r>
            <a:r>
              <a:rPr sz="1800" b="0">
                <a:latin typeface="Arial"/>
                <a:cs typeface="Arial"/>
              </a:rPr>
              <a:t>cada elemento extra reduce la visibilidad de lo esencial.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Ejemplo: </a:t>
            </a:r>
            <a:r>
              <a:rPr sz="1800" b="0">
                <a:latin typeface="Arial"/>
                <a:cs typeface="Arial"/>
              </a:rPr>
              <a:t>pantallas limpias con jerarquía visual clara.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Buena práctica: </a:t>
            </a:r>
            <a:r>
              <a:rPr sz="1800" b="0">
                <a:latin typeface="Arial"/>
                <a:cs typeface="Arial"/>
              </a:rPr>
              <a:t>prioriza el contenido clave y elimina el ruido visual.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wrap="square"/>
          <a:lstStyle/>
          <a:p>
            <a:r>
              <a:rPr sz="3400">
                <a:latin typeface="Rockwell"/>
                <a:cs typeface="Rockwell"/>
              </a:rPr>
              <a:t>9. Reconocer, diagnosticar y recuperarse de errores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133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Qué es: </a:t>
            </a:r>
            <a:r>
              <a:rPr sz="1800" b="0">
                <a:latin typeface="Arial"/>
                <a:cs typeface="Arial"/>
              </a:rPr>
              <a:t>mensajes de error en lenguaje claro que indican causa y solución.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Por qué: </a:t>
            </a:r>
            <a:r>
              <a:rPr sz="1800" b="0">
                <a:latin typeface="Arial"/>
                <a:cs typeface="Arial"/>
              </a:rPr>
              <a:t>un buen mensaje convierte un bloqueo en una acción concreta.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Ejemplo: </a:t>
            </a:r>
            <a:r>
              <a:rPr sz="1800" b="0">
                <a:latin typeface="Arial"/>
                <a:cs typeface="Arial"/>
              </a:rPr>
              <a:t>“El correo debe incluir @” en vez de “Error 402”.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Buena práctica: </a:t>
            </a:r>
            <a:r>
              <a:rPr sz="1800" b="0">
                <a:latin typeface="Arial"/>
                <a:cs typeface="Arial"/>
              </a:rPr>
              <a:t>sin códigos técnicos; explica el problema y cómo resolverlo.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wrap="square"/>
          <a:lstStyle/>
          <a:p>
            <a:r>
              <a:rPr sz="3400">
                <a:latin typeface="Rockwell"/>
                <a:cs typeface="Rockwell"/>
              </a:rPr>
              <a:t>10. Ayuda y documentación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133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Qué es: </a:t>
            </a:r>
            <a:r>
              <a:rPr sz="1800" b="0">
                <a:latin typeface="Arial"/>
                <a:cs typeface="Arial"/>
              </a:rPr>
              <a:t>idealmente no se necesita, pero cuando sí, debe ser útil y fácil de hallar.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Por qué: </a:t>
            </a:r>
            <a:r>
              <a:rPr sz="1800" b="0">
                <a:latin typeface="Arial"/>
                <a:cs typeface="Arial"/>
              </a:rPr>
              <a:t>algunas tareas complejas requieren guía puntual.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Ejemplo: </a:t>
            </a:r>
            <a:r>
              <a:rPr sz="1800" b="0">
                <a:latin typeface="Arial"/>
                <a:cs typeface="Arial"/>
              </a:rPr>
              <a:t>tooltips, onboarding, centro de ayuda con búsqueda.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Buena práctica: </a:t>
            </a:r>
            <a:r>
              <a:rPr sz="1800" b="0">
                <a:latin typeface="Arial"/>
                <a:cs typeface="Arial"/>
              </a:rPr>
              <a:t>documentación concreta, enfocada en la tarea y fácil de buscar.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wrap="square"/>
          <a:lstStyle/>
          <a:p>
            <a:r>
              <a:rPr sz="4000">
                <a:latin typeface="Rockwell"/>
                <a:cs typeface="Rockwell"/>
              </a:rPr>
              <a:t>Cómo hacer una evaluación heurística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133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Qué es: </a:t>
            </a:r>
            <a:r>
              <a:rPr sz="1800" b="0">
                <a:latin typeface="Arial"/>
                <a:cs typeface="Arial"/>
              </a:rPr>
              <a:t>un método de inspección donde expertos revisan la interfaz contra las 10 heurísticas.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Cuántos: </a:t>
            </a:r>
            <a:r>
              <a:rPr sz="1800" b="0">
                <a:latin typeface="Arial"/>
                <a:cs typeface="Arial"/>
              </a:rPr>
              <a:t>3 a 5 evaluadores detectan la mayoría de los problemas (Nielsen).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Cómo: </a:t>
            </a:r>
            <a:r>
              <a:rPr sz="1800" b="0">
                <a:latin typeface="Arial"/>
                <a:cs typeface="Arial"/>
              </a:rPr>
              <a:t>cada uno recorre la interfaz por separado y anota los problemas.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Registro: </a:t>
            </a:r>
            <a:r>
              <a:rPr sz="1800" b="0">
                <a:latin typeface="Arial"/>
                <a:cs typeface="Arial"/>
              </a:rPr>
              <a:t>por cada hallazgo indica la heurística violada y dónde ocurre.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Cierre: </a:t>
            </a:r>
            <a:r>
              <a:rPr sz="1800" b="0">
                <a:latin typeface="Arial"/>
                <a:cs typeface="Arial"/>
              </a:rPr>
              <a:t>se consolidan los hallazgos y se les asigna una severidad.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wrap="square"/>
          <a:lstStyle/>
          <a:p>
            <a:r>
              <a:rPr sz="4000">
                <a:latin typeface="Rockwell"/>
                <a:cs typeface="Rockwell"/>
              </a:rPr>
              <a:t>Escala de severidad (0 a 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133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0 — </a:t>
            </a:r>
            <a:r>
              <a:rPr sz="1800" b="0">
                <a:latin typeface="Arial"/>
                <a:cs typeface="Arial"/>
              </a:rPr>
              <a:t>no es un problema de usabilidad.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1 — </a:t>
            </a:r>
            <a:r>
              <a:rPr sz="1800" b="0">
                <a:latin typeface="Arial"/>
                <a:cs typeface="Arial"/>
              </a:rPr>
              <a:t>cosmético: corregir solo si sobra tiempo.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2 — </a:t>
            </a:r>
            <a:r>
              <a:rPr sz="1800" b="0">
                <a:latin typeface="Arial"/>
                <a:cs typeface="Arial"/>
              </a:rPr>
              <a:t>menor: baja prioridad.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3 — </a:t>
            </a:r>
            <a:r>
              <a:rPr sz="1800" b="0">
                <a:latin typeface="Arial"/>
                <a:cs typeface="Arial"/>
              </a:rPr>
              <a:t>mayor: alta prioridad, importante de resolver.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4 — </a:t>
            </a:r>
            <a:r>
              <a:rPr sz="1800" b="0">
                <a:latin typeface="Arial"/>
                <a:cs typeface="Arial"/>
              </a:rPr>
              <a:t>catastrófico: obligatorio corregir antes de lanzar.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Se calcula con: </a:t>
            </a:r>
            <a:r>
              <a:rPr sz="1800" b="0">
                <a:latin typeface="Arial"/>
                <a:cs typeface="Arial"/>
              </a:rPr>
              <a:t>frecuencia + impacto + persistencia del problema.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wrap="square"/>
          <a:lstStyle/>
          <a:p>
            <a:r>
              <a:rPr sz="4000">
                <a:latin typeface="Rockwell"/>
                <a:cs typeface="Rockwell"/>
              </a:rPr>
              <a:t>Errores comunes al aplicarlas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133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Opinión personal: </a:t>
            </a:r>
            <a:r>
              <a:rPr sz="1800" b="0">
                <a:latin typeface="Arial"/>
                <a:cs typeface="Arial"/>
              </a:rPr>
              <a:t>confundir un gusto propio con una violación real de usabilidad.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Sin tareas: </a:t>
            </a:r>
            <a:r>
              <a:rPr sz="1800" b="0">
                <a:latin typeface="Arial"/>
                <a:cs typeface="Arial"/>
              </a:rPr>
              <a:t>evaluar sin escenarios ni objetivos concretos del usuario.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Un solo evaluador: </a:t>
            </a:r>
            <a:r>
              <a:rPr sz="1800" b="0">
                <a:latin typeface="Arial"/>
                <a:cs typeface="Arial"/>
              </a:rPr>
              <a:t>una sola persona deja pasar muchos problemas.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Sin prioridad: </a:t>
            </a:r>
            <a:r>
              <a:rPr sz="1800" b="0">
                <a:latin typeface="Arial"/>
                <a:cs typeface="Arial"/>
              </a:rPr>
              <a:t>no clasificar los hallazgos por severidad.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Sustituir pruebas: </a:t>
            </a:r>
            <a:r>
              <a:rPr sz="1800" b="0">
                <a:latin typeface="Arial"/>
                <a:cs typeface="Arial"/>
              </a:rPr>
              <a:t>usarlas en lugar de —y no antes de— probar con usuarios reales.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wrap="square"/>
          <a:lstStyle/>
          <a:p>
            <a:r>
              <a:rPr sz="4000">
                <a:latin typeface="Rockwell"/>
                <a:cs typeface="Rockwell"/>
              </a:rPr>
              <a:t>Relación con los principios de Norman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133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Visibilidad y feedback: </a:t>
            </a:r>
            <a:r>
              <a:rPr sz="1800" b="0">
                <a:latin typeface="Arial"/>
                <a:cs typeface="Arial"/>
              </a:rPr>
              <a:t>conectan con la H1 (estado del sistema).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Mapeo y significantes: </a:t>
            </a:r>
            <a:r>
              <a:rPr sz="1800" b="0">
                <a:latin typeface="Arial"/>
                <a:cs typeface="Arial"/>
              </a:rPr>
              <a:t>se reflejan en la H2 (mundo real).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Restricciones (constraints): </a:t>
            </a:r>
            <a:r>
              <a:rPr sz="1800" b="0">
                <a:latin typeface="Arial"/>
                <a:cs typeface="Arial"/>
              </a:rPr>
              <a:t>sustentan la H5 (prevención de errores).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Modelos conceptuales: </a:t>
            </a:r>
            <a:r>
              <a:rPr sz="1800" b="0">
                <a:latin typeface="Arial"/>
                <a:cs typeface="Arial"/>
              </a:rPr>
              <a:t>se apoyan en la H4 (consistencia y estándares).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Idea común: </a:t>
            </a:r>
            <a:r>
              <a:rPr sz="1800" b="0">
                <a:latin typeface="Arial"/>
                <a:cs typeface="Arial"/>
              </a:rPr>
              <a:t>reducir la brecha entre el modelo del sistema y el del usuario.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wrap="square"/>
          <a:lstStyle/>
          <a:p>
            <a:r>
              <a:rPr sz="4000">
                <a:latin typeface="Rockwell"/>
                <a:cs typeface="Rockwell"/>
              </a:rPr>
              <a:t>Resumen: puntos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133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Reglas generales: </a:t>
            </a:r>
            <a:r>
              <a:rPr sz="1800" b="0">
                <a:latin typeface="Arial"/>
                <a:cs typeface="Arial"/>
              </a:rPr>
              <a:t>guían el diseño, no son una checklist rígida.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Doble uso: </a:t>
            </a:r>
            <a:r>
              <a:rPr sz="1800" b="0">
                <a:latin typeface="Arial"/>
                <a:cs typeface="Arial"/>
              </a:rPr>
              <a:t>sirven para diseñar y para evaluar (evaluación heurística).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Método barato: </a:t>
            </a:r>
            <a:r>
              <a:rPr sz="1800" b="0">
                <a:latin typeface="Arial"/>
                <a:cs typeface="Arial"/>
              </a:rPr>
              <a:t>3–5 evaluadores + escala de severidad = mejoras rápidas.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Complemento: </a:t>
            </a:r>
            <a:r>
              <a:rPr sz="1800" b="0">
                <a:latin typeface="Arial"/>
                <a:cs typeface="Arial"/>
              </a:rPr>
              <a:t>anticipan, pero no reemplazan, las pruebas con usuarios.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Arial"/>
                <a:cs typeface="Arial"/>
              </a:rPr>
              <a:t>Meta final: </a:t>
            </a:r>
            <a:r>
              <a:rPr sz="1800" b="0">
                <a:latin typeface="Arial"/>
                <a:cs typeface="Arial"/>
              </a:rPr>
              <a:t>interfaces claras, predecibles y fáciles de usar.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</p:spPr>
        <p:txBody>
          <a:bodyPr wrap="square"/>
          <a:lstStyle/>
          <a:p>
            <a:r>
              <a:rPr sz="4400">
                <a:latin typeface="Rockwell"/>
                <a:cs typeface="Rockwell"/>
              </a:rPr>
              <a:t>Taller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80060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2000" b="1">
                <a:latin typeface="Arial"/>
                <a:cs typeface="Arial"/>
              </a:rPr>
              <a:t>1. </a:t>
            </a:r>
            <a:r>
              <a:rPr sz="2000" b="0">
                <a:latin typeface="Arial"/>
                <a:cs typeface="Arial"/>
              </a:rPr>
              <a:t>Elige una app o sitio web que uses con frecuencia.</a:t>
            </a:r>
          </a:p>
          <a:p>
            <a:pPr>
              <a:spcAft>
                <a:spcPts val="600"/>
              </a:spcAft>
            </a:pPr>
            <a:r>
              <a:rPr sz="2000" b="1">
                <a:latin typeface="Arial"/>
                <a:cs typeface="Arial"/>
              </a:rPr>
              <a:t>2. </a:t>
            </a:r>
            <a:r>
              <a:rPr sz="2000" b="0">
                <a:latin typeface="Arial"/>
                <a:cs typeface="Arial"/>
              </a:rPr>
              <a:t>Recórrelo y encuentra al menos 3 problemas de usabilidad.</a:t>
            </a:r>
          </a:p>
          <a:p>
            <a:pPr>
              <a:spcAft>
                <a:spcPts val="600"/>
              </a:spcAft>
            </a:pPr>
            <a:r>
              <a:rPr sz="2000" b="1">
                <a:latin typeface="Arial"/>
                <a:cs typeface="Arial"/>
              </a:rPr>
              <a:t>3. </a:t>
            </a:r>
            <a:r>
              <a:rPr sz="2000" b="0">
                <a:latin typeface="Arial"/>
                <a:cs typeface="Arial"/>
              </a:rPr>
              <a:t>Indica qué heurística viola cada problema.</a:t>
            </a:r>
          </a:p>
          <a:p>
            <a:pPr>
              <a:spcAft>
                <a:spcPts val="600"/>
              </a:spcAft>
            </a:pPr>
            <a:r>
              <a:rPr sz="2000" b="1">
                <a:latin typeface="Arial"/>
                <a:cs typeface="Arial"/>
              </a:rPr>
              <a:t>4. </a:t>
            </a:r>
            <a:r>
              <a:rPr sz="2000" b="0">
                <a:latin typeface="Arial"/>
                <a:cs typeface="Arial"/>
              </a:rPr>
              <a:t>Asigna una severidad (0–4) a cada uno.</a:t>
            </a:r>
          </a:p>
          <a:p>
            <a:pPr>
              <a:spcAft>
                <a:spcPts val="600"/>
              </a:spcAft>
            </a:pPr>
            <a:r>
              <a:rPr sz="2000" b="1">
                <a:latin typeface="Arial"/>
                <a:cs typeface="Arial"/>
              </a:rPr>
              <a:t>5. </a:t>
            </a:r>
            <a:r>
              <a:rPr sz="2000" b="0">
                <a:latin typeface="Arial"/>
                <a:cs typeface="Arial"/>
              </a:rPr>
              <a:t>Propón una mejora para el problema más grave.</a:t>
            </a:r>
          </a:p>
          <a:p>
            <a:pPr>
              <a:spcAft>
                <a:spcPts val="600"/>
              </a:spcAft>
            </a:pPr>
            <a:r>
              <a:rPr sz="2000" b="1">
                <a:latin typeface="Arial"/>
                <a:cs typeface="Arial"/>
              </a:rPr>
              <a:t>Entregar: </a:t>
            </a:r>
            <a:r>
              <a:rPr sz="2000" b="0">
                <a:latin typeface="Arial"/>
                <a:cs typeface="Arial"/>
              </a:rPr>
              <a:t>1 archivo con capturas señalando cada problema y su heurística.</a:t>
            </a:r>
          </a:p>
          <a:p>
            <a:pPr>
              <a:spcAft>
                <a:spcPts val="600"/>
              </a:spcAft>
            </a:pPr>
            <a:r>
              <a:rPr sz="2000" b="1">
                <a:latin typeface="Arial"/>
                <a:cs typeface="Arial"/>
              </a:rPr>
              <a:t>Fecha de entrega: </a:t>
            </a:r>
            <a:r>
              <a:rPr sz="2000" b="0">
                <a:latin typeface="Arial"/>
                <a:cs typeface="Arial"/>
              </a:rPr>
              <a:t>por definir en clase.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0E3A5F"/>
      </a:dk2>
      <a:lt2>
        <a:srgbClr val="E9F2FB"/>
      </a:lt2>
      <a:accent1>
        <a:srgbClr val="2072B8"/>
      </a:accent1>
      <a:accent2>
        <a:srgbClr val="0E4C7E"/>
      </a:accent2>
      <a:accent3>
        <a:srgbClr val="4A9FD4"/>
      </a:accent3>
      <a:accent4>
        <a:srgbClr val="7FC1E6"/>
      </a:accent4>
      <a:accent5>
        <a:srgbClr val="54B4E4"/>
      </a:accent5>
      <a:accent6>
        <a:srgbClr val="16324E"/>
      </a:accent6>
      <a:hlink>
        <a:srgbClr val="1F6FB2"/>
      </a:hlink>
      <a:folHlink>
        <a:srgbClr val="5B7E9C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7866CFD-F94E-4AE5-ACEA-86FEC0F48A1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579702B-25C7-40D7-9E29-7686B11A96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C0B241-13E5-418D-8920-D23491E2D2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487</TotalTime>
  <Words>1181</Words>
  <Application>Microsoft Office PowerPoint</Application>
  <PresentationFormat>Widescreen</PresentationFormat>
  <Paragraphs>115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Rockwell</vt:lpstr>
      <vt:lpstr>Tahoma</vt:lpstr>
      <vt:lpstr>Office 2013 - 2022 Theme</vt:lpstr>
      <vt:lpstr>Diseño de software</vt:lpstr>
      <vt:lpstr>Diseñando experiencias que funcionan</vt:lpstr>
      <vt:lpstr>Por qué importa UX/UI</vt:lpstr>
      <vt:lpstr>UX vs. UI: ¿en qué se diferencian?</vt:lpstr>
      <vt:lpstr>PowerPoint Presentation</vt:lpstr>
      <vt:lpstr>El proceso: Design Thinking y Double Diamond</vt:lpstr>
      <vt:lpstr>PowerPoint Presentation</vt:lpstr>
      <vt:lpstr>Investigación de usuarios: métodos</vt:lpstr>
      <vt:lpstr>Principios de UX</vt:lpstr>
      <vt:lpstr>Las 10 heurísticas de usabilidad de Nielsen</vt:lpstr>
      <vt:lpstr>Principios de UI</vt:lpstr>
      <vt:lpstr>Fundamentos visuales: tipografía, color y layout</vt:lpstr>
      <vt:lpstr>Sistemas de diseño y componentes</vt:lpstr>
      <vt:lpstr>El flujo de trabajo UX/UI en el diseño de software</vt:lpstr>
      <vt:lpstr>De wireframe a mockup a prototipo</vt:lpstr>
      <vt:lpstr>Pruebas de usabilidad y métricas</vt:lpstr>
      <vt:lpstr>Errores comunes</vt:lpstr>
      <vt:lpstr>Ética y patrones oscuros (dark patterns)</vt:lpstr>
      <vt:lpstr>PowerPoint Presentation</vt:lpstr>
      <vt:lpstr>Stitch</vt:lpstr>
      <vt:lpstr>Claude Design</vt:lpstr>
      <vt:lpstr>La IA en el diseño UX/UI</vt:lpstr>
      <vt:lpstr>Taller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Diseño de Software · UX/UI</dc:title>
  <dc:creator>Jonathan Andres Solis Parajeles</dc:creator>
  <cp:lastModifiedBy>Jonathan Andres Solis Parajeles</cp:lastModifiedBy>
  <cp:revision>3</cp:revision>
  <dcterms:created xsi:type="dcterms:W3CDTF">2025-08-14T04:03:43Z</dcterms:created>
  <dcterms:modified xsi:type="dcterms:W3CDTF">2026-08-20T19:50:47Z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