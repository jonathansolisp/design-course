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1">
          <a:gsLst>
            <a:gs pos="0">
              <a:srgbClr val="0B2A47"/>
            </a:gs>
            <a:gs pos="55000">
              <a:srgbClr val="123E63"/>
            </a:gs>
            <a:gs pos="100000">
              <a:srgbClr val="256FA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FE6F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Accent"/>
          <p:cNvSpPr/>
          <p:nvPr/>
        </p:nvSpPr>
        <p:spPr>
          <a:xfrm>
            <a:off x="5461000" y="3545000"/>
            <a:ext cx="1270000" cy="45720"/>
          </a:xfrm>
          <a:prstGeom prst="roundRect">
            <a:avLst>
              <a:gd name="adj" fmla="val 50000"/>
            </a:avLst>
          </a:prstGeom>
          <a:solidFill>
            <a:srgbClr val="54B4E4"/>
          </a:solidFill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721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 Accent Bar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gradFill>
            <a:gsLst>
              <a:gs pos="0">
                <a:srgbClr val="0E3A5F"/>
              </a:gs>
              <a:gs pos="100000">
                <a:srgbClr val="54B4E4"/>
              </a:gs>
            </a:gsLst>
            <a:lin ang="5400000" scaled="1"/>
          </a:gradFill>
        </p:spPr>
        <p:txBody>
          <a:bodyPr/>
          <a:lstStyle/>
          <a:p>
            <a:endParaRPr lang="es-ES"/>
          </a:p>
        </p:txBody>
      </p:sp>
      <p:sp>
        <p:nvSpPr>
          <p:cNvPr id="11" name="Title Accent Rule"/>
          <p:cNvSpPr/>
          <p:nvPr/>
        </p:nvSpPr>
        <p:spPr>
          <a:xfrm>
            <a:off x="838200" y="1712000"/>
            <a:ext cx="1600200" cy="45720"/>
          </a:xfrm>
          <a:prstGeom prst="roundRect">
            <a:avLst>
              <a:gd name="adj" fmla="val 50000"/>
            </a:avLst>
          </a:prstGeom>
          <a:solidFill>
            <a:srgbClr val="54B4E4"/>
          </a:solidFill>
        </p:spPr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37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3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91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6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44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70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6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13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0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29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5400">
                <a:latin typeface="Rockwell"/>
                <a:cs typeface="Rockwell"/>
              </a:rPr>
              <a:t>Diseño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latin typeface="Tahoma"/>
                <a:cs typeface="Tahoma"/>
              </a:rPr>
              <a:t>Ing. Jonathan Solís Parajeles | ITCR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Las 10 leyes de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200" b="1">
                <a:latin typeface="Arial"/>
                <a:cs typeface="Arial"/>
              </a:rPr>
              <a:t>Tema de hoy: </a:t>
            </a:r>
            <a:r>
              <a:rPr sz="2200" b="0">
                <a:latin typeface="Arial"/>
                <a:cs typeface="Arial"/>
              </a:rPr>
              <a:t>las leyes de UX (Laws of UX) que guían el diseño de interfaces.</a:t>
            </a:r>
          </a:p>
          <a:p>
            <a:pPr>
              <a:spcAft>
                <a:spcPts val="600"/>
              </a:spcAft>
            </a:pPr>
            <a:r>
              <a:rPr sz="2200" b="1">
                <a:latin typeface="Arial"/>
                <a:cs typeface="Arial"/>
              </a:rPr>
              <a:t>Qué son: </a:t>
            </a:r>
            <a:r>
              <a:rPr sz="2200" b="0">
                <a:latin typeface="Arial"/>
                <a:cs typeface="Arial"/>
              </a:rPr>
              <a:t>principios de psicología aplicados a cómo las personas usan productos.</a:t>
            </a:r>
          </a:p>
          <a:p>
            <a:pPr>
              <a:spcAft>
                <a:spcPts val="600"/>
              </a:spcAft>
            </a:pPr>
            <a:r>
              <a:rPr sz="2200" b="1">
                <a:latin typeface="Arial"/>
                <a:cs typeface="Arial"/>
              </a:rPr>
              <a:t>Incluyen: </a:t>
            </a:r>
            <a:r>
              <a:rPr sz="2200" b="0">
                <a:latin typeface="Arial"/>
                <a:cs typeface="Arial"/>
              </a:rPr>
              <a:t>las leyes de Jakob, Fitts, Hick, Miller y varios efectos cognitivos.</a:t>
            </a:r>
          </a:p>
          <a:p>
            <a:pPr>
              <a:spcAft>
                <a:spcPts val="600"/>
              </a:spcAft>
            </a:pPr>
            <a:r>
              <a:rPr sz="2200" b="1">
                <a:latin typeface="Arial"/>
                <a:cs typeface="Arial"/>
              </a:rPr>
              <a:t>Para qué: </a:t>
            </a:r>
            <a:r>
              <a:rPr sz="2200" b="0">
                <a:latin typeface="Arial"/>
                <a:cs typeface="Arial"/>
              </a:rPr>
              <a:t>diseñar con base en el comportamiento humano, no en la intuición.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¿Qué son las leyes de UX?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Origen: </a:t>
            </a:r>
            <a:r>
              <a:rPr sz="1800" b="0">
                <a:latin typeface="Arial"/>
                <a:cs typeface="Arial"/>
              </a:rPr>
              <a:t>recopiladas por Jon Yablonski en el proyecto “Laws of UX” (lawsofux.com).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Base: </a:t>
            </a:r>
            <a:r>
              <a:rPr sz="1800" b="0">
                <a:latin typeface="Arial"/>
                <a:cs typeface="Arial"/>
              </a:rPr>
              <a:t>provienen de la psicología y la ciencia cognitiva, no de la moda.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Heurísticas: </a:t>
            </a:r>
            <a:r>
              <a:rPr sz="1800" b="0">
                <a:latin typeface="Arial"/>
                <a:cs typeface="Arial"/>
              </a:rPr>
              <a:t>son reglas generales, no fórmulas exactas; guían decisiones.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Predicen conducta: </a:t>
            </a:r>
            <a:r>
              <a:rPr sz="1800" b="0">
                <a:latin typeface="Arial"/>
                <a:cs typeface="Arial"/>
              </a:rPr>
              <a:t>describen cómo la gente percibe, recuerda y decide.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Complementan: </a:t>
            </a:r>
            <a:r>
              <a:rPr sz="1800" b="0">
                <a:latin typeface="Arial"/>
                <a:cs typeface="Arial"/>
              </a:rPr>
              <a:t>se apoyan en las heurísticas de usabilidad de Nielsen.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¿Por qué importan?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Decisiones informadas: </a:t>
            </a:r>
            <a:r>
              <a:rPr sz="1800" b="0">
                <a:latin typeface="Arial"/>
                <a:cs typeface="Arial"/>
              </a:rPr>
              <a:t>justifican el diseño con evidencia del comportamiento humano.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Menos fricción: </a:t>
            </a:r>
            <a:r>
              <a:rPr sz="1800" b="0">
                <a:latin typeface="Arial"/>
                <a:cs typeface="Arial"/>
              </a:rPr>
              <a:t>reducen la carga cognitiva y el esfuerzo del usuario.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Lenguaje común: </a:t>
            </a:r>
            <a:r>
              <a:rPr sz="1800" b="0">
                <a:latin typeface="Arial"/>
                <a:cs typeface="Arial"/>
              </a:rPr>
              <a:t>dan al equipo vocabulario para argumentar decisiones de diseño.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Anticipan problemas: </a:t>
            </a:r>
            <a:r>
              <a:rPr sz="1800" b="0">
                <a:latin typeface="Arial"/>
                <a:cs typeface="Arial"/>
              </a:rPr>
              <a:t>ayudan a prever cómo reaccionará el usuario.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Universales: </a:t>
            </a:r>
            <a:r>
              <a:rPr sz="1800" b="0">
                <a:latin typeface="Arial"/>
                <a:cs typeface="Arial"/>
              </a:rPr>
              <a:t>aplican a apps, webs y casi cualquier interfaz.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Las 10 leyes de un vistazo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1.  </a:t>
            </a:r>
            <a:r>
              <a:rPr sz="2000" b="0">
                <a:latin typeface="Arial"/>
                <a:cs typeface="Arial"/>
              </a:rPr>
              <a:t>Ley de Jakob</a:t>
            </a:r>
          </a:p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2.  </a:t>
            </a:r>
            <a:r>
              <a:rPr sz="2000" b="0">
                <a:latin typeface="Arial"/>
                <a:cs typeface="Arial"/>
              </a:rPr>
              <a:t>Ley de Fitts</a:t>
            </a:r>
          </a:p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3.  </a:t>
            </a:r>
            <a:r>
              <a:rPr sz="2000" b="0">
                <a:latin typeface="Arial"/>
                <a:cs typeface="Arial"/>
              </a:rPr>
              <a:t>Ley de Hick</a:t>
            </a:r>
          </a:p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4.  </a:t>
            </a:r>
            <a:r>
              <a:rPr sz="2000" b="0">
                <a:latin typeface="Arial"/>
                <a:cs typeface="Arial"/>
              </a:rPr>
              <a:t>Ley de Miller</a:t>
            </a:r>
          </a:p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5.  </a:t>
            </a:r>
            <a:r>
              <a:rPr sz="2000" b="0">
                <a:latin typeface="Arial"/>
                <a:cs typeface="Arial"/>
              </a:rPr>
              <a:t>Efecto estética-usabilidad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8288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6.  </a:t>
            </a:r>
            <a:r>
              <a:rPr sz="2000" b="0">
                <a:latin typeface="Arial"/>
                <a:cs typeface="Arial"/>
              </a:rPr>
              <a:t>Efecto Von Restorff</a:t>
            </a:r>
          </a:p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7.  </a:t>
            </a:r>
            <a:r>
              <a:rPr sz="2000" b="0">
                <a:latin typeface="Arial"/>
                <a:cs typeface="Arial"/>
              </a:rPr>
              <a:t>Umbral de Doherty</a:t>
            </a:r>
          </a:p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8.  </a:t>
            </a:r>
            <a:r>
              <a:rPr sz="2000" b="0">
                <a:latin typeface="Arial"/>
                <a:cs typeface="Arial"/>
              </a:rPr>
              <a:t>Efecto de posición serial</a:t>
            </a:r>
          </a:p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9.  </a:t>
            </a:r>
            <a:r>
              <a:rPr sz="2000" b="0">
                <a:latin typeface="Arial"/>
                <a:cs typeface="Arial"/>
              </a:rPr>
              <a:t>Regla del pico y el final</a:t>
            </a:r>
          </a:p>
          <a:p>
            <a:pPr>
              <a:spcAft>
                <a:spcPts val="1200"/>
              </a:spcAft>
            </a:pPr>
            <a:r>
              <a:rPr sz="2000" b="1">
                <a:latin typeface="Arial"/>
                <a:cs typeface="Arial"/>
              </a:rPr>
              <a:t>10.  </a:t>
            </a:r>
            <a:r>
              <a:rPr sz="2000" b="0">
                <a:latin typeface="Arial"/>
                <a:cs typeface="Arial"/>
              </a:rPr>
              <a:t>Ley de proximidad (Gestalt)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Cómo se agrupan estas leyes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Percepción (Gestalt): </a:t>
            </a:r>
            <a:r>
              <a:rPr sz="1800" b="0">
                <a:latin typeface="Arial"/>
                <a:cs typeface="Arial"/>
              </a:rPr>
              <a:t>cómo agrupamos lo que vemos → proximidad, Von Restorff.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Memoria: </a:t>
            </a:r>
            <a:r>
              <a:rPr sz="1800" b="0">
                <a:latin typeface="Arial"/>
                <a:cs typeface="Arial"/>
              </a:rPr>
              <a:t>qué recordamos → Miller, posición serial, pico y final.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Decisión: </a:t>
            </a:r>
            <a:r>
              <a:rPr sz="1800" b="0">
                <a:latin typeface="Arial"/>
                <a:cs typeface="Arial"/>
              </a:rPr>
              <a:t>cómo elegimos → Hick, Jakob.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Interacción y rendimiento: </a:t>
            </a:r>
            <a:r>
              <a:rPr sz="1800" b="0">
                <a:latin typeface="Arial"/>
                <a:cs typeface="Arial"/>
              </a:rPr>
              <a:t>qué tan fluido se siente → Fitts, Doherty.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Percepción de calidad: </a:t>
            </a:r>
            <a:r>
              <a:rPr sz="1800" b="0">
                <a:latin typeface="Arial"/>
                <a:cs typeface="Arial"/>
              </a:rPr>
              <a:t>cómo juzgamos el producto → estética-usabilidad.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Ley de Jakob (Jakob's Law)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los usuarios esperan que tu sitio funcione como los que ya conocen.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transfieren los modelos mentales que ya tienen.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el logo enlaza al inicio; el carrito arriba a la derecha.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respeta convenciones y patrones; no reinventes lo conocido.</a:t>
            </a:r>
          </a:p>
        </p:txBody>
      </p:sp>
      <p:pic>
        <p:nvPicPr>
          <p:cNvPr id="4" name="Picture 3" descr="jak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Ley de Fitts (Fitts's Law)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el tiempo para alcanzar un objetivo depende de su tamaño y distancia.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los objetivos grandes y cercanos son más rápidos de acertar.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botones de acción grandes y bien ubicados.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usa targets amplios; acerca las acciones frecuentes.</a:t>
            </a:r>
          </a:p>
        </p:txBody>
      </p:sp>
      <p:pic>
        <p:nvPicPr>
          <p:cNvPr id="4" name="Picture 3" descr="fit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Ley de Hick (Hick's Law)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el tiempo de decisión crece con el número de opciones.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más opciones implican más carga cognitiva.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menús cortos; onboarding paso a paso.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reduce y agrupa opciones; divide las tareas complejas.</a:t>
            </a:r>
          </a:p>
        </p:txBody>
      </p:sp>
      <p:pic>
        <p:nvPicPr>
          <p:cNvPr id="4" name="Picture 3" descr="h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Ley de Miller (Miller's Law)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retenemos alrededor de 7 (±2) elementos en la memoria de trabajo.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la memoria a corto plazo es muy limitada.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agrupar los dígitos de un teléfono en bloques (chunking).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organiza el contenido en grupos pequeños y manejables.</a:t>
            </a:r>
          </a:p>
        </p:txBody>
      </p:sp>
      <p:pic>
        <p:nvPicPr>
          <p:cNvPr id="4" name="Picture 3" descr="mi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295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Efecto estética-usabilidad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lo que se ve bien se percibe como más fácil de usar.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una buena estética da una impresión positiva y tolera fallos menores.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una interfaz pulida se siente más confiable.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cuida la estética sin sacrificar la usabilidad real.</a:t>
            </a:r>
          </a:p>
        </p:txBody>
      </p:sp>
      <p:pic>
        <p:nvPicPr>
          <p:cNvPr id="4" name="Picture 3" descr="aes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Efecto Von Restorff (aislamiento)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entre elementos similares, el que se distingue se recuerda mejor.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el contraste capta la atención.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el botón principal (CTA) con un color distinto.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destaca la acción clave con contraste visual.</a:t>
            </a:r>
          </a:p>
        </p:txBody>
      </p:sp>
      <p:pic>
        <p:nvPicPr>
          <p:cNvPr id="4" name="Picture 3" descr="vonrestor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Umbral de Doherty (Doherty Threshold)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la interacción es fluida si el sistema responde en menos de 400 ms.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bajo ese umbral el usuario mantiene la atención.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respuestas casi instantáneas e indicadores de progreso.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optimiza el rendimiento y da feedback inmediato.</a:t>
            </a:r>
          </a:p>
        </p:txBody>
      </p:sp>
      <p:pic>
        <p:nvPicPr>
          <p:cNvPr id="4" name="Picture 3" descr="dohe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Efecto de posición serial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recordamos mejor el primer y el último elemento de una lista.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actúan los efectos de primacía y de recencia.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las acciones clave al inicio y al final de un menú.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coloca lo más importante al principio y al final.</a:t>
            </a:r>
          </a:p>
        </p:txBody>
      </p:sp>
      <p:pic>
        <p:nvPicPr>
          <p:cNvPr id="4" name="Picture 3" descr="s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Regla del pico y el final (Peak-End)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juzgamos una experiencia por su momento más intenso y su final.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la memoria no promedia: pesa los picos y el cierre.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una animación de éxito al pagar; un buen mensaje final.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cuida los momentos pico y el final del recorrido.</a:t>
            </a:r>
          </a:p>
        </p:txBody>
      </p:sp>
      <p:pic>
        <p:nvPicPr>
          <p:cNvPr id="4" name="Picture 3" descr="pea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200">
                <a:latin typeface="Rockwell"/>
                <a:cs typeface="Rockwell"/>
              </a:rPr>
              <a:t>Ley de proximidad (Gestalt)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Qué dice: </a:t>
            </a:r>
            <a:r>
              <a:rPr sz="1700" b="0">
                <a:latin typeface="Arial"/>
                <a:cs typeface="Arial"/>
              </a:rPr>
              <a:t>los elementos cercanos se perciben como un grupo.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Por qué: </a:t>
            </a:r>
            <a:r>
              <a:rPr sz="1700" b="0">
                <a:latin typeface="Arial"/>
                <a:cs typeface="Arial"/>
              </a:rPr>
              <a:t>el cerebro agrupa la información por cercanía espacial.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Ejemplo: </a:t>
            </a:r>
            <a:r>
              <a:rPr sz="1700" b="0">
                <a:latin typeface="Arial"/>
                <a:cs typeface="Arial"/>
              </a:rPr>
              <a:t>cada etiqueta junto a su campo; secciones separadas por espacio.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Aplícalo: </a:t>
            </a:r>
            <a:r>
              <a:rPr sz="1700" b="0">
                <a:latin typeface="Arial"/>
                <a:cs typeface="Arial"/>
              </a:rPr>
              <a:t>usa el espaciado para unir lo relacionado y separar lo distinto.</a:t>
            </a:r>
          </a:p>
        </p:txBody>
      </p:sp>
      <p:pic>
        <p:nvPicPr>
          <p:cNvPr id="4" name="Picture 3" descr="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Extra: otros principios de Gestalt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691640"/>
            <a:ext cx="621792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Similitud: </a:t>
            </a:r>
            <a:r>
              <a:rPr sz="1700" b="0">
                <a:latin typeface="Arial"/>
                <a:cs typeface="Arial"/>
              </a:rPr>
              <a:t>los elementos parecidos se ven como un mismo grupo.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Región común: </a:t>
            </a:r>
            <a:r>
              <a:rPr sz="1700" b="0">
                <a:latin typeface="Arial"/>
                <a:cs typeface="Arial"/>
              </a:rPr>
              <a:t>lo que comparte un fondo o borde se ve como una unidad.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Continuidad: </a:t>
            </a:r>
            <a:r>
              <a:rPr sz="1700" b="0">
                <a:latin typeface="Arial"/>
                <a:cs typeface="Arial"/>
              </a:rPr>
              <a:t>el ojo sigue líneas y curvas de forma natural.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Cierre: </a:t>
            </a:r>
            <a:r>
              <a:rPr sz="1700" b="0">
                <a:latin typeface="Arial"/>
                <a:cs typeface="Arial"/>
              </a:rPr>
              <a:t>completamos figuras incompletas (logos, íconos).</a:t>
            </a:r>
          </a:p>
          <a:p>
            <a:pPr>
              <a:spcAft>
                <a:spcPts val="600"/>
              </a:spcAft>
            </a:pPr>
            <a:r>
              <a:rPr sz="1700" b="1">
                <a:latin typeface="Arial"/>
                <a:cs typeface="Arial"/>
              </a:rPr>
              <a:t>Idea clave: </a:t>
            </a:r>
            <a:r>
              <a:rPr sz="1700" b="0">
                <a:latin typeface="Arial"/>
                <a:cs typeface="Arial"/>
              </a:rPr>
              <a:t>el todo se percibe distinto de la suma de sus partes.</a:t>
            </a:r>
          </a:p>
        </p:txBody>
      </p:sp>
      <p:pic>
        <p:nvPicPr>
          <p:cNvPr id="4" name="Picture 3" descr="gesta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65960"/>
            <a:ext cx="4800600" cy="40968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600">
                <a:latin typeface="Rockwell"/>
                <a:cs typeface="Rockwell"/>
              </a:rPr>
              <a:t>Leyes de UX vs. heurísticas de Nielsen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En común: </a:t>
            </a:r>
            <a:r>
              <a:rPr sz="1800" b="0">
                <a:latin typeface="Arial"/>
                <a:cs typeface="Arial"/>
              </a:rPr>
              <a:t>ambas son reglas generales para lograr interfaces usables.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Leyes de UX: </a:t>
            </a:r>
            <a:r>
              <a:rPr sz="1800" b="0">
                <a:latin typeface="Arial"/>
                <a:cs typeface="Arial"/>
              </a:rPr>
              <a:t>explican el porqué desde la psicología del comportamiento.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Heurísticas: </a:t>
            </a:r>
            <a:r>
              <a:rPr sz="1800" b="0">
                <a:latin typeface="Arial"/>
                <a:cs typeface="Arial"/>
              </a:rPr>
              <a:t>sirven para evaluar la usabilidad de un producto (inspección).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Se combinan: </a:t>
            </a:r>
            <a:r>
              <a:rPr sz="1800" b="0">
                <a:latin typeface="Arial"/>
                <a:cs typeface="Arial"/>
              </a:rPr>
              <a:t>las leyes guían el diseño; las heurísticas lo revisan.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Meta común: </a:t>
            </a:r>
            <a:r>
              <a:rPr sz="1800" b="0">
                <a:latin typeface="Arial"/>
                <a:cs typeface="Arial"/>
              </a:rPr>
              <a:t>reducir la brecha entre el sistema y el modelo mental del usuario.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Cómo aplicarlas en el diseño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Simplifica opciones: </a:t>
            </a:r>
            <a:r>
              <a:rPr sz="1800" b="0">
                <a:latin typeface="Arial"/>
                <a:cs typeface="Arial"/>
              </a:rPr>
              <a:t>Hick y Miller → menos decisiones y contenido agrupado.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Facilita la acción: </a:t>
            </a:r>
            <a:r>
              <a:rPr sz="1800" b="0">
                <a:latin typeface="Arial"/>
                <a:cs typeface="Arial"/>
              </a:rPr>
              <a:t>Fitts → targets grandes y bien ubicados.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Aprovecha lo conocido: </a:t>
            </a:r>
            <a:r>
              <a:rPr sz="1800" b="0">
                <a:latin typeface="Arial"/>
                <a:cs typeface="Arial"/>
              </a:rPr>
              <a:t>Jakob → patrones y convenciones familiares.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Guía la atención: </a:t>
            </a:r>
            <a:r>
              <a:rPr sz="1800" b="0">
                <a:latin typeface="Arial"/>
                <a:cs typeface="Arial"/>
              </a:rPr>
              <a:t>Von Restorff y Gestalt → jerarquía y contraste.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Cuida la experiencia: </a:t>
            </a:r>
            <a:r>
              <a:rPr sz="1800" b="0">
                <a:latin typeface="Arial"/>
                <a:cs typeface="Arial"/>
              </a:rPr>
              <a:t>Doherty y pico-final → velocidad y buen cierre.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Errores comunes al aplicarlas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Simplificar de más: </a:t>
            </a:r>
            <a:r>
              <a:rPr sz="1800" b="0">
                <a:latin typeface="Arial"/>
                <a:cs typeface="Arial"/>
              </a:rPr>
              <a:t>usar Hick para esconder funciones necesarias.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Estética sobre función: </a:t>
            </a:r>
            <a:r>
              <a:rPr sz="1800" b="0">
                <a:latin typeface="Arial"/>
                <a:cs typeface="Arial"/>
              </a:rPr>
              <a:t>confiar en la estética y descuidar la usabilidad.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Reglas rígidas: </a:t>
            </a:r>
            <a:r>
              <a:rPr sz="1800" b="0">
                <a:latin typeface="Arial"/>
                <a:cs typeface="Arial"/>
              </a:rPr>
              <a:t>tratar las leyes como fórmulas exactas y no como guías.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Ignorar el contexto: </a:t>
            </a:r>
            <a:r>
              <a:rPr sz="1800" b="0">
                <a:latin typeface="Arial"/>
                <a:cs typeface="Arial"/>
              </a:rPr>
              <a:t>aplicarlas sin considerar al usuario ni la tarea real.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Sin validar: </a:t>
            </a:r>
            <a:r>
              <a:rPr sz="1800" b="0">
                <a:latin typeface="Arial"/>
                <a:cs typeface="Arial"/>
              </a:rPr>
              <a:t>no probar las decisiones con usuarios reales.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Resumen: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Base psicológica: </a:t>
            </a:r>
            <a:r>
              <a:rPr sz="1800" b="0">
                <a:latin typeface="Arial"/>
                <a:cs typeface="Arial"/>
              </a:rPr>
              <a:t>explican cómo percibimos, recordamos y decidimos.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Reducen la fricción: </a:t>
            </a:r>
            <a:r>
              <a:rPr sz="1800" b="0">
                <a:latin typeface="Arial"/>
                <a:cs typeface="Arial"/>
              </a:rPr>
              <a:t>menos carga cognitiva y acciones más fáciles.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Son guías: </a:t>
            </a:r>
            <a:r>
              <a:rPr sz="1800" b="0">
                <a:latin typeface="Arial"/>
                <a:cs typeface="Arial"/>
              </a:rPr>
              <a:t>reglas generales, no fórmulas rígidas.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Se combinan: </a:t>
            </a:r>
            <a:r>
              <a:rPr sz="1800" b="0">
                <a:latin typeface="Arial"/>
                <a:cs typeface="Arial"/>
              </a:rPr>
              <a:t>con las heurísticas de Nielsen y con las pruebas de usuario.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Meta final: </a:t>
            </a:r>
            <a:r>
              <a:rPr sz="1800" b="0">
                <a:latin typeface="Arial"/>
                <a:cs typeface="Arial"/>
              </a:rPr>
              <a:t>interfaces intuitivas, rápidas y agradables.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400">
                <a:latin typeface="Rockwell"/>
                <a:cs typeface="Rockwell"/>
              </a:rPr>
              <a:t>Taller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828800"/>
            <a:ext cx="10515600" cy="45720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000" b="1" dirty="0">
                <a:latin typeface="Arial"/>
                <a:cs typeface="Arial"/>
              </a:rPr>
              <a:t>1. </a:t>
            </a:r>
            <a:r>
              <a:rPr sz="2000" b="0" dirty="0">
                <a:latin typeface="Arial"/>
                <a:cs typeface="Arial"/>
              </a:rPr>
              <a:t>Elige </a:t>
            </a:r>
            <a:r>
              <a:rPr sz="2000" b="0" dirty="0" err="1">
                <a:latin typeface="Arial"/>
                <a:cs typeface="Arial"/>
              </a:rPr>
              <a:t>una</a:t>
            </a:r>
            <a:r>
              <a:rPr sz="2000" b="0" dirty="0">
                <a:latin typeface="Arial"/>
                <a:cs typeface="Arial"/>
              </a:rPr>
              <a:t> app o sitio web </a:t>
            </a:r>
            <a:r>
              <a:rPr sz="2000" b="0" dirty="0" err="1">
                <a:latin typeface="Arial"/>
                <a:cs typeface="Arial"/>
              </a:rPr>
              <a:t>que</a:t>
            </a:r>
            <a:r>
              <a:rPr sz="2000" b="0" dirty="0">
                <a:latin typeface="Arial"/>
                <a:cs typeface="Arial"/>
              </a:rPr>
              <a:t> uses con </a:t>
            </a:r>
            <a:r>
              <a:rPr sz="2000" b="0" dirty="0" err="1">
                <a:latin typeface="Arial"/>
                <a:cs typeface="Arial"/>
              </a:rPr>
              <a:t>frecuencia</a:t>
            </a:r>
            <a:r>
              <a:rPr sz="2000" b="0" dirty="0">
                <a:latin typeface="Arial"/>
                <a:cs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000" b="1" dirty="0">
                <a:latin typeface="Arial"/>
                <a:cs typeface="Arial"/>
              </a:rPr>
              <a:t>2. </a:t>
            </a:r>
            <a:r>
              <a:rPr sz="2000" b="0" dirty="0" err="1">
                <a:latin typeface="Arial"/>
                <a:cs typeface="Arial"/>
              </a:rPr>
              <a:t>Identifica</a:t>
            </a:r>
            <a:r>
              <a:rPr sz="2000" b="0" dirty="0">
                <a:latin typeface="Arial"/>
                <a:cs typeface="Arial"/>
              </a:rPr>
              <a:t> al </a:t>
            </a:r>
            <a:r>
              <a:rPr sz="2000" b="0" dirty="0" err="1">
                <a:latin typeface="Arial"/>
                <a:cs typeface="Arial"/>
              </a:rPr>
              <a:t>menos</a:t>
            </a:r>
            <a:r>
              <a:rPr sz="2000" b="0" dirty="0">
                <a:latin typeface="Arial"/>
                <a:cs typeface="Arial"/>
              </a:rPr>
              <a:t> 3 </a:t>
            </a:r>
            <a:r>
              <a:rPr sz="2000" b="0" dirty="0" err="1">
                <a:latin typeface="Arial"/>
                <a:cs typeface="Arial"/>
              </a:rPr>
              <a:t>leyes</a:t>
            </a:r>
            <a:r>
              <a:rPr sz="2000" b="0" dirty="0">
                <a:latin typeface="Arial"/>
                <a:cs typeface="Arial"/>
              </a:rPr>
              <a:t> de UX </a:t>
            </a:r>
            <a:r>
              <a:rPr sz="2000" b="0" dirty="0" err="1">
                <a:latin typeface="Arial"/>
                <a:cs typeface="Arial"/>
              </a:rPr>
              <a:t>aplicadas</a:t>
            </a:r>
            <a:r>
              <a:rPr sz="2000" b="0" dirty="0">
                <a:latin typeface="Arial"/>
                <a:cs typeface="Arial"/>
              </a:rPr>
              <a:t> (o mal </a:t>
            </a:r>
            <a:r>
              <a:rPr sz="2000" b="0" dirty="0" err="1">
                <a:latin typeface="Arial"/>
                <a:cs typeface="Arial"/>
              </a:rPr>
              <a:t>aplicadas</a:t>
            </a:r>
            <a:r>
              <a:rPr sz="2000" b="0" dirty="0">
                <a:latin typeface="Arial"/>
                <a:cs typeface="Arial"/>
              </a:rPr>
              <a:t>).</a:t>
            </a:r>
          </a:p>
          <a:p>
            <a:pPr>
              <a:spcAft>
                <a:spcPts val="600"/>
              </a:spcAft>
            </a:pPr>
            <a:r>
              <a:rPr sz="2000" b="1" dirty="0">
                <a:latin typeface="Arial"/>
                <a:cs typeface="Arial"/>
              </a:rPr>
              <a:t>3. </a:t>
            </a:r>
            <a:r>
              <a:rPr sz="2000" b="0" dirty="0" err="1">
                <a:latin typeface="Arial"/>
                <a:cs typeface="Arial"/>
              </a:rPr>
              <a:t>Explica</a:t>
            </a:r>
            <a:r>
              <a:rPr sz="2000" b="0" dirty="0">
                <a:latin typeface="Arial"/>
                <a:cs typeface="Arial"/>
              </a:rPr>
              <a:t> </a:t>
            </a:r>
            <a:r>
              <a:rPr sz="2000" b="0" dirty="0" err="1">
                <a:latin typeface="Arial"/>
                <a:cs typeface="Arial"/>
              </a:rPr>
              <a:t>cómo</a:t>
            </a:r>
            <a:r>
              <a:rPr sz="2000" b="0" dirty="0">
                <a:latin typeface="Arial"/>
                <a:cs typeface="Arial"/>
              </a:rPr>
              <a:t> se </a:t>
            </a:r>
            <a:r>
              <a:rPr sz="2000" b="0" dirty="0" err="1">
                <a:latin typeface="Arial"/>
                <a:cs typeface="Arial"/>
              </a:rPr>
              <a:t>manifiesta</a:t>
            </a:r>
            <a:r>
              <a:rPr sz="2000" b="0" dirty="0">
                <a:latin typeface="Arial"/>
                <a:cs typeface="Arial"/>
              </a:rPr>
              <a:t> </a:t>
            </a:r>
            <a:r>
              <a:rPr sz="2000" b="0" dirty="0" err="1">
                <a:latin typeface="Arial"/>
                <a:cs typeface="Arial"/>
              </a:rPr>
              <a:t>cada</a:t>
            </a:r>
            <a:r>
              <a:rPr sz="2000" b="0" dirty="0">
                <a:latin typeface="Arial"/>
                <a:cs typeface="Arial"/>
              </a:rPr>
              <a:t> ley con </a:t>
            </a:r>
            <a:r>
              <a:rPr sz="2000" b="0" dirty="0" err="1">
                <a:latin typeface="Arial"/>
                <a:cs typeface="Arial"/>
              </a:rPr>
              <a:t>una</a:t>
            </a:r>
            <a:r>
              <a:rPr sz="2000" b="0" dirty="0">
                <a:latin typeface="Arial"/>
                <a:cs typeface="Arial"/>
              </a:rPr>
              <a:t> </a:t>
            </a:r>
            <a:r>
              <a:rPr sz="2000" b="0" dirty="0" err="1">
                <a:latin typeface="Arial"/>
                <a:cs typeface="Arial"/>
              </a:rPr>
              <a:t>captura</a:t>
            </a:r>
            <a:r>
              <a:rPr sz="2000" b="0" dirty="0">
                <a:latin typeface="Arial"/>
                <a:cs typeface="Arial"/>
              </a:rPr>
              <a:t> de </a:t>
            </a:r>
            <a:r>
              <a:rPr sz="2000" b="0" dirty="0" err="1">
                <a:latin typeface="Arial"/>
                <a:cs typeface="Arial"/>
              </a:rPr>
              <a:t>ejemplo</a:t>
            </a:r>
            <a:r>
              <a:rPr sz="2000" b="0" dirty="0">
                <a:latin typeface="Arial"/>
                <a:cs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2000" b="1" dirty="0">
                <a:latin typeface="Arial"/>
                <a:cs typeface="Arial"/>
              </a:rPr>
              <a:t>4. </a:t>
            </a:r>
            <a:r>
              <a:rPr lang="en-US" sz="2000" b="0" dirty="0" err="1">
                <a:latin typeface="Arial"/>
                <a:cs typeface="Arial"/>
              </a:rPr>
              <a:t>Proponer</a:t>
            </a:r>
            <a:r>
              <a:rPr sz="2000" b="0" dirty="0">
                <a:latin typeface="Arial"/>
                <a:cs typeface="Arial"/>
              </a:rPr>
              <a:t> </a:t>
            </a:r>
            <a:r>
              <a:rPr sz="2000" b="0" dirty="0" err="1">
                <a:latin typeface="Arial"/>
                <a:cs typeface="Arial"/>
              </a:rPr>
              <a:t>una</a:t>
            </a:r>
            <a:r>
              <a:rPr sz="2000" b="0" dirty="0">
                <a:latin typeface="Arial"/>
                <a:cs typeface="Arial"/>
              </a:rPr>
              <a:t> </a:t>
            </a:r>
            <a:r>
              <a:rPr sz="2000" b="0" dirty="0" err="1">
                <a:latin typeface="Arial"/>
                <a:cs typeface="Arial"/>
              </a:rPr>
              <a:t>mejora</a:t>
            </a:r>
            <a:r>
              <a:rPr sz="2000" b="0" dirty="0">
                <a:latin typeface="Arial"/>
                <a:cs typeface="Arial"/>
              </a:rPr>
              <a:t> </a:t>
            </a:r>
            <a:r>
              <a:rPr sz="2000" b="0" dirty="0" err="1">
                <a:latin typeface="Arial"/>
                <a:cs typeface="Arial"/>
              </a:rPr>
              <a:t>usando</a:t>
            </a:r>
            <a:r>
              <a:rPr sz="2000" b="0" dirty="0">
                <a:latin typeface="Arial"/>
                <a:cs typeface="Arial"/>
              </a:rPr>
              <a:t> </a:t>
            </a:r>
            <a:r>
              <a:rPr sz="2000" b="0" dirty="0" err="1">
                <a:latin typeface="Arial"/>
                <a:cs typeface="Arial"/>
              </a:rPr>
              <a:t>alguna</a:t>
            </a:r>
            <a:r>
              <a:rPr sz="2000" b="0" dirty="0">
                <a:latin typeface="Arial"/>
                <a:cs typeface="Arial"/>
              </a:rPr>
              <a:t> de las </a:t>
            </a:r>
            <a:r>
              <a:rPr sz="2000" b="0" dirty="0" err="1">
                <a:latin typeface="Arial"/>
                <a:cs typeface="Arial"/>
              </a:rPr>
              <a:t>leyes</a:t>
            </a:r>
            <a:r>
              <a:rPr sz="2000" b="0" dirty="0">
                <a:latin typeface="Arial"/>
                <a:cs typeface="Arial"/>
              </a:rPr>
              <a:t> vistas.</a:t>
            </a:r>
          </a:p>
          <a:p>
            <a:pPr>
              <a:spcAft>
                <a:spcPts val="600"/>
              </a:spcAft>
            </a:pPr>
            <a:r>
              <a:rPr sz="2000" b="1" dirty="0" err="1">
                <a:latin typeface="Arial"/>
                <a:cs typeface="Arial"/>
              </a:rPr>
              <a:t>Entregar</a:t>
            </a:r>
            <a:r>
              <a:rPr sz="2000" b="1" dirty="0">
                <a:latin typeface="Arial"/>
                <a:cs typeface="Arial"/>
              </a:rPr>
              <a:t>: </a:t>
            </a:r>
            <a:r>
              <a:rPr sz="2000" b="0" dirty="0">
                <a:latin typeface="Arial"/>
                <a:cs typeface="Arial"/>
              </a:rPr>
              <a:t>1 </a:t>
            </a:r>
            <a:r>
              <a:rPr sz="2000" b="0" dirty="0" err="1">
                <a:latin typeface="Arial"/>
                <a:cs typeface="Arial"/>
              </a:rPr>
              <a:t>archivo</a:t>
            </a:r>
            <a:r>
              <a:rPr sz="2000" b="0" dirty="0">
                <a:latin typeface="Arial"/>
                <a:cs typeface="Arial"/>
              </a:rPr>
              <a:t> con </a:t>
            </a:r>
            <a:r>
              <a:rPr sz="2000" b="0" dirty="0" err="1">
                <a:latin typeface="Arial"/>
                <a:cs typeface="Arial"/>
              </a:rPr>
              <a:t>capturas</a:t>
            </a:r>
            <a:r>
              <a:rPr sz="2000" b="0" dirty="0">
                <a:latin typeface="Arial"/>
                <a:cs typeface="Arial"/>
              </a:rPr>
              <a:t>, la ley </a:t>
            </a:r>
            <a:r>
              <a:rPr sz="2000" b="0" dirty="0" err="1">
                <a:latin typeface="Arial"/>
                <a:cs typeface="Arial"/>
              </a:rPr>
              <a:t>aplicada</a:t>
            </a:r>
            <a:r>
              <a:rPr sz="2000" b="0" dirty="0">
                <a:latin typeface="Arial"/>
                <a:cs typeface="Arial"/>
              </a:rPr>
              <a:t> y </a:t>
            </a:r>
            <a:r>
              <a:rPr sz="2000" b="0" dirty="0" err="1">
                <a:latin typeface="Arial"/>
                <a:cs typeface="Arial"/>
              </a:rPr>
              <a:t>tu</a:t>
            </a:r>
            <a:r>
              <a:rPr sz="2000" b="0" dirty="0">
                <a:latin typeface="Arial"/>
                <a:cs typeface="Arial"/>
              </a:rPr>
              <a:t> </a:t>
            </a:r>
            <a:r>
              <a:rPr sz="2000" b="0" dirty="0" err="1">
                <a:latin typeface="Arial"/>
                <a:cs typeface="Arial"/>
              </a:rPr>
              <a:t>propuesta</a:t>
            </a:r>
            <a:r>
              <a:rPr sz="2000" b="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0E3A5F"/>
      </a:dk2>
      <a:lt2>
        <a:srgbClr val="E9F2FB"/>
      </a:lt2>
      <a:accent1>
        <a:srgbClr val="2072B8"/>
      </a:accent1>
      <a:accent2>
        <a:srgbClr val="0E4C7E"/>
      </a:accent2>
      <a:accent3>
        <a:srgbClr val="4A9FD4"/>
      </a:accent3>
      <a:accent4>
        <a:srgbClr val="7FC1E6"/>
      </a:accent4>
      <a:accent5>
        <a:srgbClr val="54B4E4"/>
      </a:accent5>
      <a:accent6>
        <a:srgbClr val="16324E"/>
      </a:accent6>
      <a:hlink>
        <a:srgbClr val="1F6FB2"/>
      </a:hlink>
      <a:folHlink>
        <a:srgbClr val="5B7E9C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527</TotalTime>
  <Words>1346</Words>
  <Application>Microsoft Office PowerPoint</Application>
  <PresentationFormat>Widescreen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Rockwell</vt:lpstr>
      <vt:lpstr>Tahoma</vt:lpstr>
      <vt:lpstr>Office 2013 - 2022 Theme</vt:lpstr>
      <vt:lpstr>Diseño de software</vt:lpstr>
      <vt:lpstr>Las 10 leyes de UX</vt:lpstr>
      <vt:lpstr>¿Qué son las leyes de UX?</vt:lpstr>
      <vt:lpstr>¿Por qué importan?</vt:lpstr>
      <vt:lpstr>Las 10 leyes de un vistazo</vt:lpstr>
      <vt:lpstr>Cómo se agrupan estas leyes</vt:lpstr>
      <vt:lpstr>Ley de Jakob (Jakob's Law)</vt:lpstr>
      <vt:lpstr>Ley de Fitts (Fitts's Law)</vt:lpstr>
      <vt:lpstr>Ley de Hick (Hick's Law)</vt:lpstr>
      <vt:lpstr>Ley de Miller (Miller's Law)</vt:lpstr>
      <vt:lpstr>Efecto estética-usabilidad</vt:lpstr>
      <vt:lpstr>Efecto Von Restorff (aislamiento)</vt:lpstr>
      <vt:lpstr>Umbral de Doherty (Doherty Threshold)</vt:lpstr>
      <vt:lpstr>Efecto de posición serial</vt:lpstr>
      <vt:lpstr>Regla del pico y el final (Peak-End)</vt:lpstr>
      <vt:lpstr>Ley de proximidad (Gestalt)</vt:lpstr>
      <vt:lpstr>Extra: otros principios de Gestalt</vt:lpstr>
      <vt:lpstr>Leyes de UX vs. heurísticas de Nielsen</vt:lpstr>
      <vt:lpstr>Cómo aplicarlas en el diseño</vt:lpstr>
      <vt:lpstr>Errores comunes al aplicarlas</vt:lpstr>
      <vt:lpstr>Resumen: puntos clave</vt:lpstr>
      <vt:lpstr>Taller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Software · UX/UI</dc:title>
  <dc:creator>Jonathan Andres Solis Parajeles</dc:creator>
  <cp:lastModifiedBy>Jonathan Andres Solis Parajeles</cp:lastModifiedBy>
  <cp:revision>4</cp:revision>
  <dcterms:created xsi:type="dcterms:W3CDTF">2025-08-14T04:03:43Z</dcterms:created>
  <dcterms:modified xsi:type="dcterms:W3CDTF">2026-08-27T18:05:34Z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